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handoutMasterIdLst>
    <p:handoutMasterId r:id="rId16"/>
  </p:handoutMasterIdLst>
  <p:sldIdLst>
    <p:sldId id="256" r:id="rId2"/>
    <p:sldId id="257" r:id="rId3"/>
    <p:sldId id="273" r:id="rId4"/>
    <p:sldId id="260" r:id="rId5"/>
    <p:sldId id="268" r:id="rId6"/>
    <p:sldId id="269" r:id="rId7"/>
    <p:sldId id="262" r:id="rId8"/>
    <p:sldId id="270" r:id="rId9"/>
    <p:sldId id="271" r:id="rId10"/>
    <p:sldId id="263" r:id="rId11"/>
    <p:sldId id="261" r:id="rId12"/>
    <p:sldId id="272" r:id="rId13"/>
    <p:sldId id="266" r:id="rId14"/>
  </p:sldIdLst>
  <p:sldSz cx="12192000" cy="6858000"/>
  <p:notesSz cx="9144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B501"/>
    <a:srgbClr val="0019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58" d="100"/>
          <a:sy n="58" d="100"/>
        </p:scale>
        <p:origin x="964" y="276"/>
      </p:cViewPr>
      <p:guideLst>
        <p:guide orient="horz" pos="288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736CE05-C1E2-B4A2-EDFB-B51A161E4D77}"/>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LID4096"/>
          </a:p>
        </p:txBody>
      </p:sp>
      <p:sp>
        <p:nvSpPr>
          <p:cNvPr id="3" name="Date Placeholder 2">
            <a:extLst>
              <a:ext uri="{FF2B5EF4-FFF2-40B4-BE49-F238E27FC236}">
                <a16:creationId xmlns:a16="http://schemas.microsoft.com/office/drawing/2014/main" id="{B41DD234-EA89-5F90-D0F7-23B248ABA308}"/>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E9614885-3EAA-44C8-ABFC-A8DB634B6A8A}" type="datetimeFigureOut">
              <a:rPr lang="LID4096" smtClean="0"/>
              <a:t>02/06/2024</a:t>
            </a:fld>
            <a:endParaRPr lang="LID4096"/>
          </a:p>
        </p:txBody>
      </p:sp>
      <p:sp>
        <p:nvSpPr>
          <p:cNvPr id="4" name="Footer Placeholder 3">
            <a:extLst>
              <a:ext uri="{FF2B5EF4-FFF2-40B4-BE49-F238E27FC236}">
                <a16:creationId xmlns:a16="http://schemas.microsoft.com/office/drawing/2014/main" id="{02A500D0-C763-C97F-C56F-815135012F45}"/>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LID4096"/>
          </a:p>
        </p:txBody>
      </p:sp>
      <p:sp>
        <p:nvSpPr>
          <p:cNvPr id="5" name="Slide Number Placeholder 4">
            <a:extLst>
              <a:ext uri="{FF2B5EF4-FFF2-40B4-BE49-F238E27FC236}">
                <a16:creationId xmlns:a16="http://schemas.microsoft.com/office/drawing/2014/main" id="{DB5E1A83-817D-2B49-0079-6DC8CD3710C5}"/>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459EED78-E130-4E03-BA37-C5C68BB7A009}" type="slidenum">
              <a:rPr lang="LID4096" smtClean="0"/>
              <a:t>‹#›</a:t>
            </a:fld>
            <a:endParaRPr lang="LID4096"/>
          </a:p>
        </p:txBody>
      </p:sp>
    </p:spTree>
    <p:extLst>
      <p:ext uri="{BB962C8B-B14F-4D97-AF65-F5344CB8AC3E}">
        <p14:creationId xmlns:p14="http://schemas.microsoft.com/office/powerpoint/2010/main" val="140534829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4FFDA657-7930-4C4C-BA5A-4564BB594DCA}" type="datetimeFigureOut">
              <a:rPr lang="LID4096" smtClean="0"/>
              <a:t>02/06/2024</a:t>
            </a:fld>
            <a:endParaRPr lang="LID4096"/>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4ECE14D5-1FE7-4BDE-8BCA-48A7CFAD3A38}" type="slidenum">
              <a:rPr lang="LID4096" smtClean="0"/>
              <a:t>‹#›</a:t>
            </a:fld>
            <a:endParaRPr lang="LID4096"/>
          </a:p>
        </p:txBody>
      </p:sp>
    </p:spTree>
    <p:extLst>
      <p:ext uri="{BB962C8B-B14F-4D97-AF65-F5344CB8AC3E}">
        <p14:creationId xmlns:p14="http://schemas.microsoft.com/office/powerpoint/2010/main" val="396779752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268888" y="1949196"/>
            <a:ext cx="6477000" cy="353943"/>
          </a:xfrm>
          <a:prstGeom prst="rect">
            <a:avLst/>
          </a:prstGeom>
        </p:spPr>
        <p:txBody>
          <a:bodyPr wrap="square" lIns="0" tIns="0" rIns="0" bIns="0">
            <a:spAutoFit/>
          </a:bodyPr>
          <a:lstStyle>
            <a:lvl1pPr>
              <a:defRPr sz="2300" b="1" i="0">
                <a:solidFill>
                  <a:srgbClr val="646464"/>
                </a:solidFill>
                <a:latin typeface="Arial"/>
                <a:cs typeface="Arial"/>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defRPr sz="1000" b="0" i="0">
                <a:solidFill>
                  <a:schemeClr val="bg1"/>
                </a:solidFill>
                <a:latin typeface="Arial MT"/>
                <a:cs typeface="Arial MT"/>
              </a:defRPr>
            </a:lvl1pPr>
          </a:lstStyle>
          <a:p>
            <a:pPr marL="12700">
              <a:spcBef>
                <a:spcPts val="5"/>
              </a:spcBef>
            </a:pPr>
            <a:r>
              <a:rPr lang="en-GB"/>
              <a:t>University of Applied Sciences Hamm-Lippstadt</a:t>
            </a:r>
            <a:endParaRPr lang="en-GB" spc="-10"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C8E50266-F41E-41DD-8B86-1CC1000C2E02}" type="datetime1">
              <a:rPr lang="de-DE" smtClean="0"/>
              <a:t>06.02.2024</a:t>
            </a:fld>
            <a:endParaRPr lang="en-US"/>
          </a:p>
        </p:txBody>
      </p:sp>
      <p:sp>
        <p:nvSpPr>
          <p:cNvPr id="6" name="Holder 6"/>
          <p:cNvSpPr>
            <a:spLocks noGrp="1"/>
          </p:cNvSpPr>
          <p:nvPr>
            <p:ph type="sldNum" sz="quarter" idx="7"/>
          </p:nvPr>
        </p:nvSpPr>
        <p:spPr/>
        <p:txBody>
          <a:bodyPr lIns="0" tIns="0" rIns="0" bIns="0"/>
          <a:lstStyle>
            <a:lvl1pPr>
              <a:defRPr sz="1000" b="0" i="0">
                <a:solidFill>
                  <a:schemeClr val="bg1"/>
                </a:solidFill>
                <a:latin typeface="Arial MT"/>
                <a:cs typeface="Arial MT"/>
              </a:defRPr>
            </a:lvl1pPr>
          </a:lstStyle>
          <a:p>
            <a:pPr marL="12700">
              <a:spcBef>
                <a:spcPts val="30"/>
              </a:spcBef>
            </a:pPr>
            <a:r>
              <a:rPr lang="en-DE"/>
              <a:t>09.10.23</a:t>
            </a:r>
            <a:r>
              <a:rPr lang="en-DE" spc="135"/>
              <a:t>  </a:t>
            </a:r>
            <a:r>
              <a:rPr lang="en-DE"/>
              <a:t>&lt;</a:t>
            </a:r>
            <a:r>
              <a:rPr lang="en-DE" spc="-5"/>
              <a:t> </a:t>
            </a:r>
            <a:fld id="{81D60167-4931-47E6-BA6A-407CBD079E47}" type="slidenum">
              <a:rPr smtClean="0"/>
              <a:pPr marL="12700">
                <a:spcBef>
                  <a:spcPts val="30"/>
                </a:spcBef>
              </a:pPr>
              <a:t>‹#›</a:t>
            </a:fld>
            <a:r>
              <a:rPr spc="-15"/>
              <a:t> </a:t>
            </a:r>
            <a:r>
              <a:rPr spc="-50"/>
              <a:t>&gt;</a:t>
            </a:r>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646464"/>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defRPr sz="1000" b="0" i="0">
                <a:solidFill>
                  <a:schemeClr val="bg1"/>
                </a:solidFill>
                <a:latin typeface="Arial MT"/>
                <a:cs typeface="Arial MT"/>
              </a:defRPr>
            </a:lvl1pPr>
          </a:lstStyle>
          <a:p>
            <a:pPr marL="12700">
              <a:spcBef>
                <a:spcPts val="5"/>
              </a:spcBef>
            </a:pPr>
            <a:r>
              <a:rPr lang="en-GB"/>
              <a:t>University of Applied Sciences Hamm-Lippstadt</a:t>
            </a:r>
            <a:endParaRPr lang="en-GB" spc="-10"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7BDACBA-886B-47DC-BADE-B3FDE18D670A}" type="datetime1">
              <a:rPr lang="de-DE" smtClean="0"/>
              <a:t>06.02.2024</a:t>
            </a:fld>
            <a:endParaRPr lang="en-US"/>
          </a:p>
        </p:txBody>
      </p:sp>
      <p:sp>
        <p:nvSpPr>
          <p:cNvPr id="6" name="Holder 6"/>
          <p:cNvSpPr>
            <a:spLocks noGrp="1"/>
          </p:cNvSpPr>
          <p:nvPr>
            <p:ph type="sldNum" sz="quarter" idx="7"/>
          </p:nvPr>
        </p:nvSpPr>
        <p:spPr/>
        <p:txBody>
          <a:bodyPr lIns="0" tIns="0" rIns="0" bIns="0"/>
          <a:lstStyle>
            <a:lvl1pPr>
              <a:defRPr sz="1000" b="0" i="0">
                <a:solidFill>
                  <a:schemeClr val="bg1"/>
                </a:solidFill>
                <a:latin typeface="Arial MT"/>
                <a:cs typeface="Arial MT"/>
              </a:defRPr>
            </a:lvl1pPr>
          </a:lstStyle>
          <a:p>
            <a:pPr marL="12700">
              <a:spcBef>
                <a:spcPts val="30"/>
              </a:spcBef>
            </a:pPr>
            <a:r>
              <a:rPr lang="en-DE"/>
              <a:t>09.10.23</a:t>
            </a:r>
            <a:r>
              <a:rPr lang="en-DE" spc="135"/>
              <a:t>  </a:t>
            </a:r>
            <a:r>
              <a:rPr lang="en-DE"/>
              <a:t>&lt;</a:t>
            </a:r>
            <a:r>
              <a:rPr lang="en-DE" spc="-5"/>
              <a:t> </a:t>
            </a:r>
            <a:fld id="{81D60167-4931-47E6-BA6A-407CBD079E47}" type="slidenum">
              <a:rPr smtClean="0"/>
              <a:pPr marL="12700">
                <a:spcBef>
                  <a:spcPts val="30"/>
                </a:spcBef>
              </a:pPr>
              <a:t>‹#›</a:t>
            </a:fld>
            <a:r>
              <a:rPr spc="-15"/>
              <a:t> </a:t>
            </a:r>
            <a:r>
              <a:rPr spc="-50"/>
              <a:t>&gt;</a:t>
            </a:r>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646464"/>
                </a:solidFill>
                <a:latin typeface="Arial"/>
                <a:cs typeface="Arial"/>
              </a:defRPr>
            </a:lvl1pPr>
          </a:lstStyle>
          <a:p>
            <a:endParaRPr/>
          </a:p>
        </p:txBody>
      </p:sp>
      <p:sp>
        <p:nvSpPr>
          <p:cNvPr id="3" name="Holder 3"/>
          <p:cNvSpPr>
            <a:spLocks noGrp="1"/>
          </p:cNvSpPr>
          <p:nvPr>
            <p:ph sz="half" idx="2"/>
          </p:nvPr>
        </p:nvSpPr>
        <p:spPr>
          <a:xfrm>
            <a:off x="609600" y="1577340"/>
            <a:ext cx="530352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000" b="0" i="0">
                <a:solidFill>
                  <a:schemeClr val="bg1"/>
                </a:solidFill>
                <a:latin typeface="Arial MT"/>
                <a:cs typeface="Arial MT"/>
              </a:defRPr>
            </a:lvl1pPr>
          </a:lstStyle>
          <a:p>
            <a:pPr marL="12700">
              <a:spcBef>
                <a:spcPts val="5"/>
              </a:spcBef>
            </a:pPr>
            <a:r>
              <a:rPr lang="en-GB"/>
              <a:t>University of Applied Sciences Hamm-Lippstadt</a:t>
            </a:r>
            <a:endParaRPr lang="en-GB" spc="-10"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98B93AE-D334-4041-A6EA-EEEE7232D077}" type="datetime1">
              <a:rPr lang="de-DE" smtClean="0"/>
              <a:t>06.02.2024</a:t>
            </a:fld>
            <a:endParaRPr lang="en-US"/>
          </a:p>
        </p:txBody>
      </p:sp>
      <p:sp>
        <p:nvSpPr>
          <p:cNvPr id="7" name="Holder 7"/>
          <p:cNvSpPr>
            <a:spLocks noGrp="1"/>
          </p:cNvSpPr>
          <p:nvPr>
            <p:ph type="sldNum" sz="quarter" idx="7"/>
          </p:nvPr>
        </p:nvSpPr>
        <p:spPr/>
        <p:txBody>
          <a:bodyPr lIns="0" tIns="0" rIns="0" bIns="0"/>
          <a:lstStyle>
            <a:lvl1pPr>
              <a:defRPr sz="1000" b="0" i="0">
                <a:solidFill>
                  <a:schemeClr val="bg1"/>
                </a:solidFill>
                <a:latin typeface="Arial MT"/>
                <a:cs typeface="Arial MT"/>
              </a:defRPr>
            </a:lvl1pPr>
          </a:lstStyle>
          <a:p>
            <a:pPr marL="12700">
              <a:spcBef>
                <a:spcPts val="30"/>
              </a:spcBef>
            </a:pPr>
            <a:r>
              <a:rPr lang="en-DE"/>
              <a:t>09.10.23</a:t>
            </a:r>
            <a:r>
              <a:rPr lang="en-DE" spc="135"/>
              <a:t>  </a:t>
            </a:r>
            <a:r>
              <a:rPr lang="en-DE"/>
              <a:t>&lt;</a:t>
            </a:r>
            <a:r>
              <a:rPr lang="en-DE" spc="-5"/>
              <a:t> </a:t>
            </a:r>
            <a:fld id="{81D60167-4931-47E6-BA6A-407CBD079E47}" type="slidenum">
              <a:rPr smtClean="0"/>
              <a:pPr marL="12700">
                <a:spcBef>
                  <a:spcPts val="30"/>
                </a:spcBef>
              </a:pPr>
              <a:t>‹#›</a:t>
            </a:fld>
            <a:r>
              <a:rPr spc="-15"/>
              <a:t> </a:t>
            </a:r>
            <a:r>
              <a:rPr spc="-50"/>
              <a:t>&gt;</a:t>
            </a:r>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646464"/>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000" b="0" i="0">
                <a:solidFill>
                  <a:schemeClr val="bg1"/>
                </a:solidFill>
                <a:latin typeface="Arial MT"/>
                <a:cs typeface="Arial MT"/>
              </a:defRPr>
            </a:lvl1pPr>
          </a:lstStyle>
          <a:p>
            <a:pPr marL="12700">
              <a:spcBef>
                <a:spcPts val="5"/>
              </a:spcBef>
            </a:pPr>
            <a:r>
              <a:rPr lang="en-GB"/>
              <a:t>University of Applied Sciences Hamm-Lippstadt</a:t>
            </a:r>
            <a:endParaRPr lang="en-GB" spc="-10"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7480DF6A-D008-4652-93EB-0AA400A2A4F5}" type="datetime1">
              <a:rPr lang="de-DE" smtClean="0"/>
              <a:t>06.02.2024</a:t>
            </a:fld>
            <a:endParaRPr lang="en-US"/>
          </a:p>
        </p:txBody>
      </p:sp>
      <p:sp>
        <p:nvSpPr>
          <p:cNvPr id="5" name="Holder 5"/>
          <p:cNvSpPr>
            <a:spLocks noGrp="1"/>
          </p:cNvSpPr>
          <p:nvPr>
            <p:ph type="sldNum" sz="quarter" idx="7"/>
          </p:nvPr>
        </p:nvSpPr>
        <p:spPr/>
        <p:txBody>
          <a:bodyPr lIns="0" tIns="0" rIns="0" bIns="0"/>
          <a:lstStyle>
            <a:lvl1pPr>
              <a:defRPr sz="1000" b="0" i="0">
                <a:solidFill>
                  <a:schemeClr val="bg1"/>
                </a:solidFill>
                <a:latin typeface="Arial MT"/>
                <a:cs typeface="Arial MT"/>
              </a:defRPr>
            </a:lvl1pPr>
          </a:lstStyle>
          <a:p>
            <a:pPr marL="12700">
              <a:spcBef>
                <a:spcPts val="30"/>
              </a:spcBef>
            </a:pPr>
            <a:r>
              <a:rPr lang="en-DE"/>
              <a:t>09.10.23</a:t>
            </a:r>
            <a:r>
              <a:rPr lang="en-DE" spc="135"/>
              <a:t>  </a:t>
            </a:r>
            <a:r>
              <a:rPr lang="en-DE"/>
              <a:t>&lt;</a:t>
            </a:r>
            <a:r>
              <a:rPr lang="en-DE" spc="-5"/>
              <a:t> </a:t>
            </a:r>
            <a:fld id="{81D60167-4931-47E6-BA6A-407CBD079E47}" type="slidenum">
              <a:rPr smtClean="0"/>
              <a:pPr marL="12700">
                <a:spcBef>
                  <a:spcPts val="30"/>
                </a:spcBef>
              </a:pPr>
              <a:t>‹#›</a:t>
            </a:fld>
            <a:r>
              <a:rPr spc="-15"/>
              <a:t> </a:t>
            </a:r>
            <a:r>
              <a:rPr spc="-50"/>
              <a:t>&gt;</a:t>
            </a:r>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000" b="0" i="0">
                <a:solidFill>
                  <a:schemeClr val="bg1"/>
                </a:solidFill>
                <a:latin typeface="Arial MT"/>
                <a:cs typeface="Arial MT"/>
              </a:defRPr>
            </a:lvl1pPr>
          </a:lstStyle>
          <a:p>
            <a:pPr marL="12700">
              <a:spcBef>
                <a:spcPts val="5"/>
              </a:spcBef>
            </a:pPr>
            <a:r>
              <a:rPr lang="en-GB"/>
              <a:t>University of Applied Sciences Hamm-Lippstadt</a:t>
            </a:r>
            <a:endParaRPr lang="en-GB" spc="-10"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AECF1755-B23D-444C-8E11-F17105070899}" type="datetime1">
              <a:rPr lang="de-DE" smtClean="0"/>
              <a:t>06.02.2024</a:t>
            </a:fld>
            <a:endParaRPr lang="en-US"/>
          </a:p>
        </p:txBody>
      </p:sp>
      <p:sp>
        <p:nvSpPr>
          <p:cNvPr id="4" name="Holder 4"/>
          <p:cNvSpPr>
            <a:spLocks noGrp="1"/>
          </p:cNvSpPr>
          <p:nvPr>
            <p:ph type="sldNum" sz="quarter" idx="7"/>
          </p:nvPr>
        </p:nvSpPr>
        <p:spPr/>
        <p:txBody>
          <a:bodyPr lIns="0" tIns="0" rIns="0" bIns="0"/>
          <a:lstStyle>
            <a:lvl1pPr>
              <a:defRPr sz="1000" b="0" i="0">
                <a:solidFill>
                  <a:schemeClr val="bg1"/>
                </a:solidFill>
                <a:latin typeface="Arial MT"/>
                <a:cs typeface="Arial MT"/>
              </a:defRPr>
            </a:lvl1pPr>
          </a:lstStyle>
          <a:p>
            <a:pPr marL="12700">
              <a:spcBef>
                <a:spcPts val="30"/>
              </a:spcBef>
            </a:pPr>
            <a:r>
              <a:rPr lang="en-DE"/>
              <a:t>09.10.23</a:t>
            </a:r>
            <a:r>
              <a:rPr lang="en-DE" spc="135"/>
              <a:t>  </a:t>
            </a:r>
            <a:r>
              <a:rPr lang="en-DE"/>
              <a:t>&lt;</a:t>
            </a:r>
            <a:r>
              <a:rPr lang="en-DE" spc="-5"/>
              <a:t> </a:t>
            </a:r>
            <a:fld id="{81D60167-4931-47E6-BA6A-407CBD079E47}" type="slidenum">
              <a:rPr smtClean="0"/>
              <a:pPr marL="12700">
                <a:spcBef>
                  <a:spcPts val="30"/>
                </a:spcBef>
              </a:pPr>
              <a:t>‹#›</a:t>
            </a:fld>
            <a:r>
              <a:rPr spc="-15"/>
              <a:t> </a:t>
            </a:r>
            <a:r>
              <a:rPr spc="-50"/>
              <a:t>&gt;</a:t>
            </a:r>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597650"/>
            <a:ext cx="6096000" cy="260350"/>
          </a:xfrm>
          <a:custGeom>
            <a:avLst/>
            <a:gdLst/>
            <a:ahLst/>
            <a:cxnLst/>
            <a:rect l="l" t="t" r="r" b="b"/>
            <a:pathLst>
              <a:path w="4572000" h="260350">
                <a:moveTo>
                  <a:pt x="4572000" y="0"/>
                </a:moveTo>
                <a:lnTo>
                  <a:pt x="0" y="0"/>
                </a:lnTo>
                <a:lnTo>
                  <a:pt x="0" y="260349"/>
                </a:lnTo>
                <a:lnTo>
                  <a:pt x="4572000" y="260349"/>
                </a:lnTo>
                <a:lnTo>
                  <a:pt x="4572000" y="0"/>
                </a:lnTo>
                <a:close/>
              </a:path>
            </a:pathLst>
          </a:custGeom>
          <a:solidFill>
            <a:srgbClr val="2190FF"/>
          </a:solidFill>
        </p:spPr>
        <p:txBody>
          <a:bodyPr wrap="square" lIns="0" tIns="0" rIns="0" bIns="0" rtlCol="0"/>
          <a:lstStyle/>
          <a:p>
            <a:endParaRPr/>
          </a:p>
        </p:txBody>
      </p:sp>
      <p:sp>
        <p:nvSpPr>
          <p:cNvPr id="17" name="bg object 17"/>
          <p:cNvSpPr/>
          <p:nvPr/>
        </p:nvSpPr>
        <p:spPr>
          <a:xfrm>
            <a:off x="6096000" y="6597650"/>
            <a:ext cx="6096000" cy="260350"/>
          </a:xfrm>
          <a:custGeom>
            <a:avLst/>
            <a:gdLst/>
            <a:ahLst/>
            <a:cxnLst/>
            <a:rect l="l" t="t" r="r" b="b"/>
            <a:pathLst>
              <a:path w="4572000" h="260350">
                <a:moveTo>
                  <a:pt x="4572000" y="0"/>
                </a:moveTo>
                <a:lnTo>
                  <a:pt x="0" y="0"/>
                </a:lnTo>
                <a:lnTo>
                  <a:pt x="0" y="260349"/>
                </a:lnTo>
                <a:lnTo>
                  <a:pt x="4572000" y="260349"/>
                </a:lnTo>
                <a:lnTo>
                  <a:pt x="4572000" y="0"/>
                </a:lnTo>
                <a:close/>
              </a:path>
            </a:pathLst>
          </a:custGeom>
          <a:solidFill>
            <a:srgbClr val="6EAA23"/>
          </a:solidFill>
        </p:spPr>
        <p:txBody>
          <a:bodyPr wrap="square" lIns="0" tIns="0" rIns="0" bIns="0" rtlCol="0"/>
          <a:lstStyle/>
          <a:p>
            <a:endParaRPr/>
          </a:p>
        </p:txBody>
      </p:sp>
      <p:sp>
        <p:nvSpPr>
          <p:cNvPr id="18" name="bg object 18"/>
          <p:cNvSpPr/>
          <p:nvPr/>
        </p:nvSpPr>
        <p:spPr>
          <a:xfrm>
            <a:off x="0" y="796925"/>
            <a:ext cx="12192000" cy="0"/>
          </a:xfrm>
          <a:custGeom>
            <a:avLst/>
            <a:gdLst/>
            <a:ahLst/>
            <a:cxnLst/>
            <a:rect l="l" t="t" r="r" b="b"/>
            <a:pathLst>
              <a:path w="9144000">
                <a:moveTo>
                  <a:pt x="0" y="0"/>
                </a:moveTo>
                <a:lnTo>
                  <a:pt x="9144000" y="1"/>
                </a:lnTo>
              </a:path>
            </a:pathLst>
          </a:custGeom>
          <a:ln w="19050">
            <a:solidFill>
              <a:srgbClr val="000000"/>
            </a:solidFill>
          </a:ln>
        </p:spPr>
        <p:txBody>
          <a:bodyPr wrap="square" lIns="0" tIns="0" rIns="0" bIns="0" rtlCol="0"/>
          <a:lstStyle/>
          <a:p>
            <a:endParaRPr/>
          </a:p>
        </p:txBody>
      </p:sp>
      <p:sp>
        <p:nvSpPr>
          <p:cNvPr id="19" name="bg object 19"/>
          <p:cNvSpPr/>
          <p:nvPr/>
        </p:nvSpPr>
        <p:spPr>
          <a:xfrm>
            <a:off x="0" y="250825"/>
            <a:ext cx="143933" cy="107950"/>
          </a:xfrm>
          <a:custGeom>
            <a:avLst/>
            <a:gdLst/>
            <a:ahLst/>
            <a:cxnLst/>
            <a:rect l="l" t="t" r="r" b="b"/>
            <a:pathLst>
              <a:path w="107950" h="107950">
                <a:moveTo>
                  <a:pt x="0" y="0"/>
                </a:moveTo>
                <a:lnTo>
                  <a:pt x="0" y="107950"/>
                </a:lnTo>
                <a:lnTo>
                  <a:pt x="107950" y="53975"/>
                </a:lnTo>
                <a:lnTo>
                  <a:pt x="0" y="0"/>
                </a:lnTo>
                <a:close/>
              </a:path>
            </a:pathLst>
          </a:custGeom>
          <a:solidFill>
            <a:srgbClr val="646464"/>
          </a:solidFill>
        </p:spPr>
        <p:txBody>
          <a:bodyPr wrap="square" lIns="0" tIns="0" rIns="0" bIns="0" rtlCol="0"/>
          <a:lstStyle/>
          <a:p>
            <a:endParaRPr/>
          </a:p>
        </p:txBody>
      </p:sp>
      <p:pic>
        <p:nvPicPr>
          <p:cNvPr id="20" name="bg object 20"/>
          <p:cNvPicPr/>
          <p:nvPr/>
        </p:nvPicPr>
        <p:blipFill>
          <a:blip r:embed="rId7" cstate="print"/>
          <a:stretch>
            <a:fillRect/>
          </a:stretch>
        </p:blipFill>
        <p:spPr>
          <a:xfrm>
            <a:off x="11040549" y="116633"/>
            <a:ext cx="1104121" cy="636596"/>
          </a:xfrm>
          <a:prstGeom prst="rect">
            <a:avLst/>
          </a:prstGeom>
        </p:spPr>
      </p:pic>
      <p:sp>
        <p:nvSpPr>
          <p:cNvPr id="2" name="Holder 2"/>
          <p:cNvSpPr>
            <a:spLocks noGrp="1"/>
          </p:cNvSpPr>
          <p:nvPr>
            <p:ph type="title"/>
          </p:nvPr>
        </p:nvSpPr>
        <p:spPr>
          <a:xfrm>
            <a:off x="423750" y="173735"/>
            <a:ext cx="4576233" cy="353943"/>
          </a:xfrm>
          <a:prstGeom prst="rect">
            <a:avLst/>
          </a:prstGeom>
        </p:spPr>
        <p:txBody>
          <a:bodyPr wrap="square" lIns="0" tIns="0" rIns="0" bIns="0">
            <a:spAutoFit/>
          </a:bodyPr>
          <a:lstStyle>
            <a:lvl1pPr>
              <a:defRPr sz="2300" b="1" i="0">
                <a:solidFill>
                  <a:srgbClr val="646464"/>
                </a:solidFill>
                <a:latin typeface="Arial"/>
                <a:cs typeface="Arial"/>
              </a:defRPr>
            </a:lvl1pPr>
          </a:lstStyle>
          <a:p>
            <a:endParaRPr/>
          </a:p>
        </p:txBody>
      </p:sp>
      <p:sp>
        <p:nvSpPr>
          <p:cNvPr id="3" name="Holder 3"/>
          <p:cNvSpPr>
            <a:spLocks noGrp="1"/>
          </p:cNvSpPr>
          <p:nvPr>
            <p:ph type="body" idx="1"/>
          </p:nvPr>
        </p:nvSpPr>
        <p:spPr>
          <a:xfrm>
            <a:off x="894490" y="1297941"/>
            <a:ext cx="8804487" cy="276999"/>
          </a:xfrm>
          <a:prstGeom prst="rect">
            <a:avLst/>
          </a:prstGeom>
        </p:spPr>
        <p:txBody>
          <a:bodyPr wrap="square" lIns="0" tIns="0" rIns="0" bIns="0">
            <a:spAutoFit/>
          </a:bodyPr>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226484" y="6657178"/>
            <a:ext cx="5610013" cy="153888"/>
          </a:xfrm>
          <a:prstGeom prst="rect">
            <a:avLst/>
          </a:prstGeom>
        </p:spPr>
        <p:txBody>
          <a:bodyPr wrap="square" lIns="0" tIns="0" rIns="0" bIns="0">
            <a:spAutoFit/>
          </a:bodyPr>
          <a:lstStyle>
            <a:lvl1pPr>
              <a:defRPr sz="1000" b="0" i="0">
                <a:solidFill>
                  <a:schemeClr val="bg1"/>
                </a:solidFill>
                <a:latin typeface="Arial MT"/>
                <a:cs typeface="Arial MT"/>
              </a:defRPr>
            </a:lvl1pPr>
          </a:lstStyle>
          <a:p>
            <a:pPr marL="12700">
              <a:spcBef>
                <a:spcPts val="5"/>
              </a:spcBef>
            </a:pPr>
            <a:r>
              <a:rPr lang="en-GB"/>
              <a:t>University of Applied Sciences Hamm-Lippstadt</a:t>
            </a:r>
            <a:endParaRPr lang="en-GB" spc="-10" dirty="0"/>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2498263D-91BC-4BA3-8731-4098D46703ED}" type="datetime1">
              <a:rPr lang="de-DE" smtClean="0"/>
              <a:t>06.02.2024</a:t>
            </a:fld>
            <a:endParaRPr lang="en-US"/>
          </a:p>
        </p:txBody>
      </p:sp>
      <p:sp>
        <p:nvSpPr>
          <p:cNvPr id="6" name="Holder 6"/>
          <p:cNvSpPr>
            <a:spLocks noGrp="1"/>
          </p:cNvSpPr>
          <p:nvPr>
            <p:ph type="sldNum" sz="quarter" idx="7"/>
          </p:nvPr>
        </p:nvSpPr>
        <p:spPr>
          <a:xfrm>
            <a:off x="10755147" y="6654131"/>
            <a:ext cx="1215812" cy="153888"/>
          </a:xfrm>
          <a:prstGeom prst="rect">
            <a:avLst/>
          </a:prstGeom>
        </p:spPr>
        <p:txBody>
          <a:bodyPr wrap="square" lIns="0" tIns="0" rIns="0" bIns="0">
            <a:spAutoFit/>
          </a:bodyPr>
          <a:lstStyle>
            <a:lvl1pPr>
              <a:defRPr sz="1000" b="0" i="0">
                <a:solidFill>
                  <a:schemeClr val="bg1"/>
                </a:solidFill>
                <a:latin typeface="Arial MT"/>
                <a:cs typeface="Arial MT"/>
              </a:defRPr>
            </a:lvl1pPr>
          </a:lstStyle>
          <a:p>
            <a:pPr marL="12700">
              <a:spcBef>
                <a:spcPts val="30"/>
              </a:spcBef>
            </a:pPr>
            <a:r>
              <a:rPr lang="en-DE"/>
              <a:t>09.10.23</a:t>
            </a:r>
            <a:r>
              <a:rPr lang="en-DE" spc="135"/>
              <a:t>  </a:t>
            </a:r>
            <a:r>
              <a:rPr lang="en-DE"/>
              <a:t>&lt;</a:t>
            </a:r>
            <a:r>
              <a:rPr lang="en-DE" spc="-5"/>
              <a:t> </a:t>
            </a:r>
            <a:fld id="{81D60167-4931-47E6-BA6A-407CBD079E47}" type="slidenum">
              <a:rPr smtClean="0"/>
              <a:pPr marL="12700">
                <a:spcBef>
                  <a:spcPts val="30"/>
                </a:spcBef>
              </a:pPr>
              <a:t>‹#›</a:t>
            </a:fld>
            <a:r>
              <a:rPr spc="-15"/>
              <a:t> </a:t>
            </a:r>
            <a:r>
              <a:rPr spc="-50"/>
              <a:t>&gt;</a:t>
            </a:r>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baeldung.com/cs/q-learning-vs-deep-q-learningvs-deep-q-network" TargetMode="External"/><Relationship Id="rId2" Type="http://schemas.openxmlformats.org/officeDocument/2006/relationships/hyperlink" Target="https://medium.com/@vishnuvijayanpv/deep-reinforcement-learning-value-functions-dqn-actor-critic-method-backpropagation-through-83a277d8c38d" TargetMode="External"/><Relationship Id="rId1" Type="http://schemas.openxmlformats.org/officeDocument/2006/relationships/slideLayout" Target="../slideLayouts/slideLayout2.xml"/><Relationship Id="rId4" Type="http://schemas.openxmlformats.org/officeDocument/2006/relationships/hyperlink" Target="https://www.freecodecamp.org/news/diving-deeperinto-reinforcement-learning-with-q-learning-c18d0db58ef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5B39C1DD-3439-D90D-71E3-CFDE31B906A3}"/>
              </a:ext>
            </a:extLst>
          </p:cNvPr>
          <p:cNvSpPr txBox="1"/>
          <p:nvPr/>
        </p:nvSpPr>
        <p:spPr>
          <a:xfrm>
            <a:off x="507031" y="1820109"/>
            <a:ext cx="6270347" cy="2123658"/>
          </a:xfrm>
          <a:prstGeom prst="rect">
            <a:avLst/>
          </a:prstGeom>
          <a:noFill/>
        </p:spPr>
        <p:txBody>
          <a:bodyPr wrap="square">
            <a:spAutoFit/>
          </a:bodyPr>
          <a:lstStyle/>
          <a:p>
            <a:r>
              <a:rPr lang="en-GB" sz="4400" dirty="0">
                <a:latin typeface="Impact" panose="020B0806030902050204" pitchFamily="34" charset="0"/>
              </a:rPr>
              <a:t>Snake Game Using Deep Reinforcement</a:t>
            </a:r>
          </a:p>
          <a:p>
            <a:r>
              <a:rPr lang="en-GB" sz="4400" dirty="0">
                <a:latin typeface="Impact" panose="020B0806030902050204" pitchFamily="34" charset="0"/>
              </a:rPr>
              <a:t>Learning </a:t>
            </a:r>
            <a:endParaRPr lang="LID4096" sz="4400" dirty="0">
              <a:latin typeface="Impact" panose="020B0806030902050204" pitchFamily="34" charset="0"/>
            </a:endParaRPr>
          </a:p>
        </p:txBody>
      </p:sp>
      <p:pic>
        <p:nvPicPr>
          <p:cNvPr id="16" name="Picture 15" descr="A screenshot of a computer&#10;&#10;Description automatically generated">
            <a:extLst>
              <a:ext uri="{FF2B5EF4-FFF2-40B4-BE49-F238E27FC236}">
                <a16:creationId xmlns:a16="http://schemas.microsoft.com/office/drawing/2014/main" id="{CE731512-5689-C4C4-904F-D0EBB1FE0A6C}"/>
              </a:ext>
            </a:extLst>
          </p:cNvPr>
          <p:cNvPicPr>
            <a:picLocks noChangeAspect="1"/>
          </p:cNvPicPr>
          <p:nvPr/>
        </p:nvPicPr>
        <p:blipFill rotWithShape="1">
          <a:blip r:embed="rId2">
            <a:extLst>
              <a:ext uri="{28A0092B-C50C-407E-A947-70E740481C1C}">
                <a14:useLocalDpi xmlns:a14="http://schemas.microsoft.com/office/drawing/2010/main" val="0"/>
              </a:ext>
            </a:extLst>
          </a:blip>
          <a:srcRect l="25000" t="13460" r="25214" b="16444"/>
          <a:stretch/>
        </p:blipFill>
        <p:spPr>
          <a:xfrm>
            <a:off x="7400653" y="762000"/>
            <a:ext cx="3962400" cy="5065760"/>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sp>
        <p:nvSpPr>
          <p:cNvPr id="18" name="Footer Placeholder 17">
            <a:extLst>
              <a:ext uri="{FF2B5EF4-FFF2-40B4-BE49-F238E27FC236}">
                <a16:creationId xmlns:a16="http://schemas.microsoft.com/office/drawing/2014/main" id="{7DE5566E-82B6-E40F-F577-1B8475CB93D4}"/>
              </a:ext>
            </a:extLst>
          </p:cNvPr>
          <p:cNvSpPr>
            <a:spLocks noGrp="1"/>
          </p:cNvSpPr>
          <p:nvPr>
            <p:ph type="ftr" sz="quarter" idx="5"/>
          </p:nvPr>
        </p:nvSpPr>
        <p:spPr/>
        <p:txBody>
          <a:bodyPr/>
          <a:lstStyle/>
          <a:p>
            <a:pPr marL="12700">
              <a:spcBef>
                <a:spcPts val="5"/>
              </a:spcBef>
            </a:pPr>
            <a:r>
              <a:rPr lang="en-GB"/>
              <a:t>University of Applied Sciences Hamm-Lippstadt</a:t>
            </a:r>
            <a:endParaRPr lang="en-GB" spc="-10" dirty="0"/>
          </a:p>
        </p:txBody>
      </p:sp>
      <p:sp>
        <p:nvSpPr>
          <p:cNvPr id="4" name="TextBox 3">
            <a:extLst>
              <a:ext uri="{FF2B5EF4-FFF2-40B4-BE49-F238E27FC236}">
                <a16:creationId xmlns:a16="http://schemas.microsoft.com/office/drawing/2014/main" id="{C1CD02C9-7E97-C4EF-70FE-2DA95C2E8C5F}"/>
              </a:ext>
            </a:extLst>
          </p:cNvPr>
          <p:cNvSpPr txBox="1"/>
          <p:nvPr/>
        </p:nvSpPr>
        <p:spPr>
          <a:xfrm>
            <a:off x="507031" y="4977307"/>
            <a:ext cx="3962400" cy="646331"/>
          </a:xfrm>
          <a:prstGeom prst="rect">
            <a:avLst/>
          </a:prstGeom>
          <a:noFill/>
        </p:spPr>
        <p:txBody>
          <a:bodyPr wrap="square" rtlCol="0">
            <a:spAutoFit/>
          </a:bodyPr>
          <a:lstStyle/>
          <a:p>
            <a:r>
              <a:rPr lang="en-GB" dirty="0"/>
              <a:t>Abdullah Al Forkan</a:t>
            </a:r>
          </a:p>
          <a:p>
            <a:r>
              <a:rPr lang="en-GB" dirty="0"/>
              <a:t>Matriculation Number: 2190314</a:t>
            </a:r>
            <a:endParaRPr lang="LID4096" dirty="0"/>
          </a:p>
        </p:txBody>
      </p:sp>
      <p:sp>
        <p:nvSpPr>
          <p:cNvPr id="9" name="Slide Number Placeholder 8">
            <a:extLst>
              <a:ext uri="{FF2B5EF4-FFF2-40B4-BE49-F238E27FC236}">
                <a16:creationId xmlns:a16="http://schemas.microsoft.com/office/drawing/2014/main" id="{67605282-6867-9883-E887-5539F361EFF6}"/>
              </a:ext>
            </a:extLst>
          </p:cNvPr>
          <p:cNvSpPr>
            <a:spLocks noGrp="1"/>
          </p:cNvSpPr>
          <p:nvPr>
            <p:ph type="sldNum" sz="quarter" idx="7"/>
          </p:nvPr>
        </p:nvSpPr>
        <p:spPr/>
        <p:txBody>
          <a:bodyPr/>
          <a:lstStyle/>
          <a:p>
            <a:pPr marL="12700">
              <a:spcBef>
                <a:spcPts val="30"/>
              </a:spcBef>
            </a:pPr>
            <a:r>
              <a:rPr lang="en-DE" dirty="0"/>
              <a:t>0</a:t>
            </a:r>
            <a:r>
              <a:rPr lang="en-GB" dirty="0"/>
              <a:t>6</a:t>
            </a:r>
            <a:r>
              <a:rPr lang="en-DE" dirty="0"/>
              <a:t>.</a:t>
            </a:r>
            <a:r>
              <a:rPr lang="en-GB" dirty="0"/>
              <a:t>02</a:t>
            </a:r>
            <a:r>
              <a:rPr lang="en-DE" dirty="0"/>
              <a:t>.2</a:t>
            </a:r>
            <a:r>
              <a:rPr lang="en-GB" dirty="0"/>
              <a:t>4</a:t>
            </a:r>
            <a:r>
              <a:rPr lang="en-DE" spc="135" dirty="0"/>
              <a:t>  </a:t>
            </a:r>
            <a:r>
              <a:rPr lang="en-DE" dirty="0"/>
              <a:t>&lt;</a:t>
            </a:r>
            <a:r>
              <a:rPr lang="en-DE" spc="-5" dirty="0"/>
              <a:t> </a:t>
            </a:r>
            <a:fld id="{81D60167-4931-47E6-BA6A-407CBD079E47}" type="slidenum">
              <a:rPr smtClean="0"/>
              <a:pPr marL="12700">
                <a:spcBef>
                  <a:spcPts val="30"/>
                </a:spcBef>
              </a:pPr>
              <a:t>1</a:t>
            </a:fld>
            <a:r>
              <a:rPr spc="-15" dirty="0"/>
              <a:t> </a:t>
            </a:r>
            <a:r>
              <a:rPr spc="-50" dirty="0"/>
              <a:t>&gt;</a:t>
            </a:r>
          </a:p>
        </p:txBody>
      </p:sp>
      <p:sp>
        <p:nvSpPr>
          <p:cNvPr id="12" name="Rectangle 11">
            <a:extLst>
              <a:ext uri="{FF2B5EF4-FFF2-40B4-BE49-F238E27FC236}">
                <a16:creationId xmlns:a16="http://schemas.microsoft.com/office/drawing/2014/main" id="{D11ABC34-0AA6-C4E1-3761-9D4FD6B62392}"/>
              </a:ext>
            </a:extLst>
          </p:cNvPr>
          <p:cNvSpPr/>
          <p:nvPr/>
        </p:nvSpPr>
        <p:spPr>
          <a:xfrm>
            <a:off x="8407366" y="3314700"/>
            <a:ext cx="990600" cy="228600"/>
          </a:xfrm>
          <a:prstGeom prst="rect">
            <a:avLst/>
          </a:prstGeom>
          <a:solidFill>
            <a:srgbClr val="84B5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pic>
        <p:nvPicPr>
          <p:cNvPr id="11" name="Picture 10" descr="A green snake with red stripes and a black background&#10;&#10;Description automatically generated">
            <a:extLst>
              <a:ext uri="{FF2B5EF4-FFF2-40B4-BE49-F238E27FC236}">
                <a16:creationId xmlns:a16="http://schemas.microsoft.com/office/drawing/2014/main" id="{F6E6FECB-560E-3231-27A1-08A6B3CD503C}"/>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l="4870" t="29844" r="12764" b="24242"/>
          <a:stretch/>
        </p:blipFill>
        <p:spPr>
          <a:xfrm>
            <a:off x="7620000" y="2781300"/>
            <a:ext cx="2733947" cy="1524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47888" y="1071299"/>
            <a:ext cx="11285159" cy="2490425"/>
          </a:xfrm>
          <a:prstGeom prst="rect">
            <a:avLst/>
          </a:prstGeom>
        </p:spPr>
        <p:txBody>
          <a:bodyPr vert="horz" wrap="square" lIns="0" tIns="12700" rIns="0" bIns="0" rtlCol="0">
            <a:spAutoFit/>
          </a:bodyPr>
          <a:lstStyle/>
          <a:p>
            <a:pPr marL="12700">
              <a:spcBef>
                <a:spcPts val="100"/>
              </a:spcBef>
              <a:buClr>
                <a:srgbClr val="00197D"/>
              </a:buClr>
              <a:buSzPct val="72222"/>
              <a:tabLst>
                <a:tab pos="297815" algn="l"/>
              </a:tabLst>
            </a:pPr>
            <a:r>
              <a:rPr lang="en-GB" sz="2300" i="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I am going to present deep learning project of automatic snake game playing based on my research paper. I will give you a comprehensive understanding of deep learning applications in game development. The main purpose is to explore and analyse the practical insights of game construction, modelling human like behaviour, results  and provide recommendations. With this motivation I will discuss the following methodologies:</a:t>
            </a:r>
          </a:p>
        </p:txBody>
      </p:sp>
      <p:sp>
        <p:nvSpPr>
          <p:cNvPr id="3" name="object 3"/>
          <p:cNvSpPr txBox="1">
            <a:spLocks noGrp="1"/>
          </p:cNvSpPr>
          <p:nvPr>
            <p:ph type="title"/>
          </p:nvPr>
        </p:nvSpPr>
        <p:spPr>
          <a:xfrm>
            <a:off x="1841812" y="173735"/>
            <a:ext cx="2349188" cy="366767"/>
          </a:xfrm>
          <a:prstGeom prst="rect">
            <a:avLst/>
          </a:prstGeom>
        </p:spPr>
        <p:txBody>
          <a:bodyPr vert="horz" wrap="square" lIns="0" tIns="12700" rIns="0" bIns="0" rtlCol="0">
            <a:spAutoFit/>
          </a:bodyPr>
          <a:lstStyle/>
          <a:p>
            <a:pPr marL="12700">
              <a:spcBef>
                <a:spcPts val="100"/>
              </a:spcBef>
            </a:pPr>
            <a:r>
              <a:rPr lang="en-GB" spc="-10" dirty="0"/>
              <a:t>Motivation</a:t>
            </a:r>
            <a:endParaRPr spc="-20" dirty="0"/>
          </a:p>
        </p:txBody>
      </p:sp>
      <p:sp>
        <p:nvSpPr>
          <p:cNvPr id="7" name="Footer Placeholder 6">
            <a:extLst>
              <a:ext uri="{FF2B5EF4-FFF2-40B4-BE49-F238E27FC236}">
                <a16:creationId xmlns:a16="http://schemas.microsoft.com/office/drawing/2014/main" id="{F305AB59-3863-578F-FEF0-F77875115986}"/>
              </a:ext>
            </a:extLst>
          </p:cNvPr>
          <p:cNvSpPr>
            <a:spLocks noGrp="1"/>
          </p:cNvSpPr>
          <p:nvPr>
            <p:ph type="ftr" sz="quarter" idx="5"/>
          </p:nvPr>
        </p:nvSpPr>
        <p:spPr/>
        <p:txBody>
          <a:bodyPr/>
          <a:lstStyle/>
          <a:p>
            <a:pPr marL="12700">
              <a:spcBef>
                <a:spcPts val="5"/>
              </a:spcBef>
            </a:pPr>
            <a:r>
              <a:rPr lang="en-GB"/>
              <a:t>University of Applied Sciences Hamm-Lippstadt</a:t>
            </a:r>
            <a:endParaRPr lang="en-GB" spc="-10" dirty="0"/>
          </a:p>
        </p:txBody>
      </p:sp>
      <p:sp>
        <p:nvSpPr>
          <p:cNvPr id="10" name="Slide Number Placeholder 9">
            <a:extLst>
              <a:ext uri="{FF2B5EF4-FFF2-40B4-BE49-F238E27FC236}">
                <a16:creationId xmlns:a16="http://schemas.microsoft.com/office/drawing/2014/main" id="{ECD8D602-C9A0-F3D1-888E-2680B2C609C5}"/>
              </a:ext>
            </a:extLst>
          </p:cNvPr>
          <p:cNvSpPr>
            <a:spLocks noGrp="1"/>
          </p:cNvSpPr>
          <p:nvPr>
            <p:ph type="sldNum" sz="quarter" idx="7"/>
          </p:nvPr>
        </p:nvSpPr>
        <p:spPr/>
        <p:txBody>
          <a:bodyPr/>
          <a:lstStyle/>
          <a:p>
            <a:pPr marL="12700">
              <a:spcBef>
                <a:spcPts val="30"/>
              </a:spcBef>
            </a:pPr>
            <a:r>
              <a:rPr lang="en-DE" dirty="0"/>
              <a:t>0</a:t>
            </a:r>
            <a:r>
              <a:rPr lang="en-GB" dirty="0"/>
              <a:t>6</a:t>
            </a:r>
            <a:r>
              <a:rPr lang="en-DE" dirty="0"/>
              <a:t>.</a:t>
            </a:r>
            <a:r>
              <a:rPr lang="en-GB" dirty="0"/>
              <a:t>02</a:t>
            </a:r>
            <a:r>
              <a:rPr lang="en-DE" dirty="0"/>
              <a:t>.2</a:t>
            </a:r>
            <a:r>
              <a:rPr lang="en-GB" dirty="0"/>
              <a:t>4</a:t>
            </a:r>
            <a:r>
              <a:rPr lang="en-DE" spc="135" dirty="0"/>
              <a:t>  </a:t>
            </a:r>
            <a:r>
              <a:rPr lang="en-DE" dirty="0"/>
              <a:t>&lt;</a:t>
            </a:r>
            <a:r>
              <a:rPr lang="en-DE" spc="-5" dirty="0"/>
              <a:t> </a:t>
            </a:r>
            <a:fld id="{81D60167-4931-47E6-BA6A-407CBD079E47}" type="slidenum">
              <a:rPr smtClean="0"/>
              <a:pPr marL="12700">
                <a:spcBef>
                  <a:spcPts val="30"/>
                </a:spcBef>
              </a:pPr>
              <a:t>2</a:t>
            </a:fld>
            <a:r>
              <a:rPr spc="-15" dirty="0"/>
              <a:t> </a:t>
            </a:r>
            <a:r>
              <a:rPr spc="-50" dirty="0"/>
              <a:t>&gt;</a:t>
            </a:r>
          </a:p>
        </p:txBody>
      </p:sp>
      <p:sp>
        <p:nvSpPr>
          <p:cNvPr id="12" name="Google Shape;637;p34">
            <a:extLst>
              <a:ext uri="{FF2B5EF4-FFF2-40B4-BE49-F238E27FC236}">
                <a16:creationId xmlns:a16="http://schemas.microsoft.com/office/drawing/2014/main" id="{6F370EAA-6B9D-3D71-5B8E-160B3BF2B028}"/>
              </a:ext>
            </a:extLst>
          </p:cNvPr>
          <p:cNvSpPr txBox="1"/>
          <p:nvPr/>
        </p:nvSpPr>
        <p:spPr>
          <a:xfrm>
            <a:off x="687055" y="3932851"/>
            <a:ext cx="5883342" cy="2217146"/>
          </a:xfrm>
          <a:prstGeom prst="rect">
            <a:avLst/>
          </a:prstGeom>
          <a:noFill/>
          <a:ln>
            <a:noFill/>
          </a:ln>
        </p:spPr>
        <p:txBody>
          <a:bodyPr spcFirstLastPara="1" wrap="square" lIns="121900" tIns="121900" rIns="121900" bIns="121900" anchor="ctr" anchorCtr="0">
            <a:noAutofit/>
          </a:bodyPr>
          <a:lstStyle/>
          <a:p>
            <a:pPr marL="457200" indent="-457200" algn="l" defTabSz="1219170" rtl="0">
              <a:lnSpc>
                <a:spcPct val="150000"/>
              </a:lnSpc>
              <a:buClr>
                <a:srgbClr val="000000"/>
              </a:buClr>
              <a:buAutoNum type="arabicPeriod"/>
            </a:pPr>
            <a:r>
              <a:rPr lang="en-GB" sz="2300" dirty="0">
                <a:solidFill>
                  <a:schemeClr val="tx1"/>
                </a:solidFill>
                <a:latin typeface="Fira Code"/>
                <a:ea typeface="Fira Code"/>
                <a:cs typeface="Fira Code"/>
                <a:sym typeface="Fira Code"/>
              </a:rPr>
              <a:t>DEEP REINFORCEMENT LEARNING</a:t>
            </a:r>
          </a:p>
          <a:p>
            <a:pPr marL="457200" indent="-457200" algn="l" defTabSz="1219170" rtl="0">
              <a:lnSpc>
                <a:spcPct val="150000"/>
              </a:lnSpc>
              <a:buClr>
                <a:srgbClr val="000000"/>
              </a:buClr>
              <a:buAutoNum type="arabicPeriod"/>
            </a:pPr>
            <a:r>
              <a:rPr lang="en-GB" sz="2300" cap="all" dirty="0">
                <a:solidFill>
                  <a:schemeClr val="tx1"/>
                </a:solidFill>
                <a:latin typeface="Fira Code"/>
                <a:ea typeface="Fira Code"/>
                <a:cs typeface="Fira Code"/>
                <a:sym typeface="Fira Code"/>
              </a:rPr>
              <a:t>Q-Learning and DQ-Learning</a:t>
            </a:r>
          </a:p>
          <a:p>
            <a:pPr marL="457200" indent="-457200" algn="l" defTabSz="1219170" rtl="0">
              <a:lnSpc>
                <a:spcPct val="150000"/>
              </a:lnSpc>
              <a:buClr>
                <a:srgbClr val="000000"/>
              </a:buClr>
              <a:buAutoNum type="arabicPeriod"/>
            </a:pPr>
            <a:r>
              <a:rPr lang="en-GB" sz="2300" cap="all" dirty="0">
                <a:solidFill>
                  <a:schemeClr val="tx1"/>
                </a:solidFill>
                <a:latin typeface="Fira Code"/>
                <a:ea typeface="Fira Code"/>
                <a:cs typeface="Fira Code"/>
                <a:sym typeface="Fira Code"/>
              </a:rPr>
              <a:t>Deep Q-Learning process</a:t>
            </a:r>
          </a:p>
          <a:p>
            <a:pPr marL="457200" indent="-457200" algn="l" defTabSz="1219170" rtl="0">
              <a:lnSpc>
                <a:spcPct val="150000"/>
              </a:lnSpc>
              <a:buClr>
                <a:srgbClr val="000000"/>
              </a:buClr>
              <a:buAutoNum type="arabicPeriod"/>
            </a:pPr>
            <a:r>
              <a:rPr lang="en-GB" sz="2300" dirty="0">
                <a:solidFill>
                  <a:schemeClr val="tx1"/>
                </a:solidFill>
                <a:latin typeface="Fira Code"/>
                <a:ea typeface="Fira Code"/>
                <a:cs typeface="Fira Code"/>
                <a:sym typeface="Fira Code"/>
              </a:rPr>
              <a:t>IMPLEMENTING THE SNAKE GAME</a:t>
            </a:r>
          </a:p>
        </p:txBody>
      </p:sp>
      <p:cxnSp>
        <p:nvCxnSpPr>
          <p:cNvPr id="13" name="Google Shape;647;p34">
            <a:extLst>
              <a:ext uri="{FF2B5EF4-FFF2-40B4-BE49-F238E27FC236}">
                <a16:creationId xmlns:a16="http://schemas.microsoft.com/office/drawing/2014/main" id="{FA6BC82E-E978-1BC9-D15F-23DAA98A763E}"/>
              </a:ext>
            </a:extLst>
          </p:cNvPr>
          <p:cNvCxnSpPr>
            <a:cxnSpLocks/>
          </p:cNvCxnSpPr>
          <p:nvPr/>
        </p:nvCxnSpPr>
        <p:spPr>
          <a:xfrm>
            <a:off x="346603" y="4241995"/>
            <a:ext cx="0" cy="1668105"/>
          </a:xfrm>
          <a:prstGeom prst="straightConnector1">
            <a:avLst/>
          </a:prstGeom>
          <a:noFill/>
          <a:ln w="9525" cap="flat" cmpd="sng">
            <a:solidFill>
              <a:srgbClr val="707070"/>
            </a:solidFill>
            <a:prstDash val="solid"/>
            <a:round/>
            <a:headEnd type="none" w="med" len="med"/>
            <a:tailEnd type="none" w="med" len="med"/>
          </a:ln>
        </p:spPr>
      </p:cxnSp>
      <p:cxnSp>
        <p:nvCxnSpPr>
          <p:cNvPr id="14" name="Google Shape;648;p34">
            <a:extLst>
              <a:ext uri="{FF2B5EF4-FFF2-40B4-BE49-F238E27FC236}">
                <a16:creationId xmlns:a16="http://schemas.microsoft.com/office/drawing/2014/main" id="{6C289BFB-65D7-C5FB-D772-9EBF54F913A9}"/>
              </a:ext>
            </a:extLst>
          </p:cNvPr>
          <p:cNvCxnSpPr>
            <a:cxnSpLocks/>
          </p:cNvCxnSpPr>
          <p:nvPr/>
        </p:nvCxnSpPr>
        <p:spPr>
          <a:xfrm>
            <a:off x="340293" y="4241995"/>
            <a:ext cx="393200" cy="0"/>
          </a:xfrm>
          <a:prstGeom prst="straightConnector1">
            <a:avLst/>
          </a:prstGeom>
          <a:noFill/>
          <a:ln w="9525" cap="flat" cmpd="sng">
            <a:solidFill>
              <a:srgbClr val="707070"/>
            </a:solidFill>
            <a:prstDash val="solid"/>
            <a:round/>
            <a:headEnd type="none" w="med" len="med"/>
            <a:tailEnd type="none" w="med" len="med"/>
          </a:ln>
        </p:spPr>
      </p:cxnSp>
      <p:sp>
        <p:nvSpPr>
          <p:cNvPr id="15" name="Google Shape;651;p34">
            <a:extLst>
              <a:ext uri="{FF2B5EF4-FFF2-40B4-BE49-F238E27FC236}">
                <a16:creationId xmlns:a16="http://schemas.microsoft.com/office/drawing/2014/main" id="{82B19884-AC89-FFAF-0B5B-C54003C7CC18}"/>
              </a:ext>
            </a:extLst>
          </p:cNvPr>
          <p:cNvSpPr/>
          <p:nvPr/>
        </p:nvSpPr>
        <p:spPr>
          <a:xfrm>
            <a:off x="269603" y="5632701"/>
            <a:ext cx="154000" cy="154000"/>
          </a:xfrm>
          <a:prstGeom prst="ellipse">
            <a:avLst/>
          </a:prstGeom>
          <a:noFill/>
          <a:ln>
            <a:noFill/>
          </a:ln>
        </p:spPr>
        <p:txBody>
          <a:bodyPr spcFirstLastPara="1" wrap="square" lIns="121900" tIns="121900" rIns="121900" bIns="121900" anchor="ctr" anchorCtr="0">
            <a:noAutofit/>
          </a:bodyPr>
          <a:lstStyle/>
          <a:p>
            <a:pPr algn="l" defTabSz="1219170" rtl="0">
              <a:buClr>
                <a:srgbClr val="000000"/>
              </a:buClr>
            </a:pPr>
            <a:endParaRPr sz="1867">
              <a:solidFill>
                <a:srgbClr val="000000"/>
              </a:solidFill>
              <a:latin typeface="Arial"/>
              <a:ea typeface="+mn-ea"/>
              <a:cs typeface="Arial"/>
              <a:sym typeface="Arial"/>
            </a:endParaRPr>
          </a:p>
        </p:txBody>
      </p:sp>
      <p:sp>
        <p:nvSpPr>
          <p:cNvPr id="17" name="Google Shape;655;p34">
            <a:extLst>
              <a:ext uri="{FF2B5EF4-FFF2-40B4-BE49-F238E27FC236}">
                <a16:creationId xmlns:a16="http://schemas.microsoft.com/office/drawing/2014/main" id="{195B89C1-B6A8-9D3D-C4CC-8D3B5AF8AE97}"/>
              </a:ext>
            </a:extLst>
          </p:cNvPr>
          <p:cNvSpPr/>
          <p:nvPr/>
        </p:nvSpPr>
        <p:spPr>
          <a:xfrm>
            <a:off x="193888" y="7315200"/>
            <a:ext cx="154000" cy="154000"/>
          </a:xfrm>
          <a:prstGeom prst="ellipse">
            <a:avLst/>
          </a:prstGeom>
          <a:noFill/>
          <a:ln>
            <a:noFill/>
          </a:ln>
        </p:spPr>
        <p:txBody>
          <a:bodyPr spcFirstLastPara="1" wrap="square" lIns="121900" tIns="121900" rIns="121900" bIns="121900" anchor="ctr" anchorCtr="0">
            <a:noAutofit/>
          </a:bodyPr>
          <a:lstStyle/>
          <a:p>
            <a:pPr algn="l" defTabSz="1219170" rtl="0">
              <a:buClr>
                <a:srgbClr val="000000"/>
              </a:buClr>
            </a:pPr>
            <a:endParaRPr sz="1867">
              <a:solidFill>
                <a:srgbClr val="000000"/>
              </a:solidFill>
              <a:latin typeface="Arial"/>
              <a:ea typeface="+mn-ea"/>
              <a:cs typeface="Arial"/>
              <a:sym typeface="Arial"/>
            </a:endParaRPr>
          </a:p>
        </p:txBody>
      </p:sp>
      <p:cxnSp>
        <p:nvCxnSpPr>
          <p:cNvPr id="18" name="Google Shape;648;p34">
            <a:extLst>
              <a:ext uri="{FF2B5EF4-FFF2-40B4-BE49-F238E27FC236}">
                <a16:creationId xmlns:a16="http://schemas.microsoft.com/office/drawing/2014/main" id="{6BFBF50C-D08B-8C31-B7DC-71661B038D86}"/>
              </a:ext>
            </a:extLst>
          </p:cNvPr>
          <p:cNvCxnSpPr>
            <a:cxnSpLocks/>
          </p:cNvCxnSpPr>
          <p:nvPr/>
        </p:nvCxnSpPr>
        <p:spPr>
          <a:xfrm>
            <a:off x="340293" y="4799389"/>
            <a:ext cx="393200" cy="0"/>
          </a:xfrm>
          <a:prstGeom prst="straightConnector1">
            <a:avLst/>
          </a:prstGeom>
          <a:noFill/>
          <a:ln w="9525" cap="flat" cmpd="sng">
            <a:solidFill>
              <a:srgbClr val="707070"/>
            </a:solidFill>
            <a:prstDash val="solid"/>
            <a:round/>
            <a:headEnd type="none" w="med" len="med"/>
            <a:tailEnd type="none" w="med" len="med"/>
          </a:ln>
        </p:spPr>
      </p:cxnSp>
      <p:cxnSp>
        <p:nvCxnSpPr>
          <p:cNvPr id="19" name="Google Shape;648;p34">
            <a:extLst>
              <a:ext uri="{FF2B5EF4-FFF2-40B4-BE49-F238E27FC236}">
                <a16:creationId xmlns:a16="http://schemas.microsoft.com/office/drawing/2014/main" id="{92876D48-FD84-B5BC-0E4A-CC32DB439314}"/>
              </a:ext>
            </a:extLst>
          </p:cNvPr>
          <p:cNvCxnSpPr>
            <a:cxnSpLocks/>
          </p:cNvCxnSpPr>
          <p:nvPr/>
        </p:nvCxnSpPr>
        <p:spPr>
          <a:xfrm>
            <a:off x="340293" y="5326439"/>
            <a:ext cx="393200" cy="0"/>
          </a:xfrm>
          <a:prstGeom prst="straightConnector1">
            <a:avLst/>
          </a:prstGeom>
          <a:noFill/>
          <a:ln w="9525" cap="flat" cmpd="sng">
            <a:solidFill>
              <a:srgbClr val="707070"/>
            </a:solidFill>
            <a:prstDash val="solid"/>
            <a:round/>
            <a:headEnd type="none" w="med" len="med"/>
            <a:tailEnd type="none" w="med" len="med"/>
          </a:ln>
        </p:spPr>
      </p:cxnSp>
      <p:cxnSp>
        <p:nvCxnSpPr>
          <p:cNvPr id="23" name="Google Shape;648;p34">
            <a:extLst>
              <a:ext uri="{FF2B5EF4-FFF2-40B4-BE49-F238E27FC236}">
                <a16:creationId xmlns:a16="http://schemas.microsoft.com/office/drawing/2014/main" id="{4C91460D-A0BD-1884-ECAC-E9885C8E34FD}"/>
              </a:ext>
            </a:extLst>
          </p:cNvPr>
          <p:cNvCxnSpPr>
            <a:cxnSpLocks/>
          </p:cNvCxnSpPr>
          <p:nvPr/>
        </p:nvCxnSpPr>
        <p:spPr>
          <a:xfrm>
            <a:off x="340293" y="5910100"/>
            <a:ext cx="393200" cy="0"/>
          </a:xfrm>
          <a:prstGeom prst="straightConnector1">
            <a:avLst/>
          </a:prstGeom>
          <a:noFill/>
          <a:ln w="9525" cap="flat" cmpd="sng">
            <a:solidFill>
              <a:srgbClr val="707070"/>
            </a:solidFill>
            <a:prstDash val="solid"/>
            <a:round/>
            <a:headEnd type="none" w="med" len="med"/>
            <a:tailEnd type="none" w="med" len="med"/>
          </a:ln>
        </p:spPr>
      </p:cxnSp>
      <p:sp>
        <p:nvSpPr>
          <p:cNvPr id="29" name="TextBox 28">
            <a:extLst>
              <a:ext uri="{FF2B5EF4-FFF2-40B4-BE49-F238E27FC236}">
                <a16:creationId xmlns:a16="http://schemas.microsoft.com/office/drawing/2014/main" id="{9C8574EB-1D01-9015-4472-838E75BEC37C}"/>
              </a:ext>
            </a:extLst>
          </p:cNvPr>
          <p:cNvSpPr txBox="1"/>
          <p:nvPr/>
        </p:nvSpPr>
        <p:spPr>
          <a:xfrm>
            <a:off x="7170359" y="4147470"/>
            <a:ext cx="4800600" cy="1639231"/>
          </a:xfrm>
          <a:prstGeom prst="rect">
            <a:avLst/>
          </a:prstGeom>
          <a:noFill/>
        </p:spPr>
        <p:txBody>
          <a:bodyPr wrap="square">
            <a:spAutoFit/>
          </a:bodyPr>
          <a:lstStyle/>
          <a:p>
            <a:pPr marL="0" marR="0" lvl="0" indent="0" algn="l" defTabSz="1219170" rtl="0" eaLnBrk="1" fontAlgn="auto" latinLnBrk="0" hangingPunct="1">
              <a:lnSpc>
                <a:spcPct val="150000"/>
              </a:lnSpc>
              <a:spcBef>
                <a:spcPts val="0"/>
              </a:spcBef>
              <a:spcAft>
                <a:spcPts val="0"/>
              </a:spcAft>
              <a:buClr>
                <a:srgbClr val="000000"/>
              </a:buClr>
              <a:buSzTx/>
              <a:buFontTx/>
              <a:buNone/>
              <a:tabLst/>
              <a:defRPr/>
            </a:pPr>
            <a:r>
              <a:rPr kumimoji="0" lang="en-GB" sz="2300" b="0" i="0" u="none" strike="noStrike" kern="0" cap="none" spc="0" normalizeH="0" baseline="0" noProof="0" dirty="0">
                <a:ln>
                  <a:noFill/>
                </a:ln>
                <a:solidFill>
                  <a:prstClr val="black"/>
                </a:solidFill>
                <a:effectLst/>
                <a:uLnTx/>
                <a:uFillTx/>
                <a:latin typeface="Fira Code"/>
                <a:ea typeface="Fira Code"/>
                <a:cs typeface="Fira Code"/>
                <a:sym typeface="Fira Code"/>
              </a:rPr>
              <a:t>5. IMPLEMENTING THE AGENT</a:t>
            </a:r>
          </a:p>
          <a:p>
            <a:pPr marL="0" marR="0" lvl="0" indent="0" algn="l" defTabSz="1219170" rtl="0" eaLnBrk="1" fontAlgn="auto" latinLnBrk="0" hangingPunct="1">
              <a:lnSpc>
                <a:spcPct val="150000"/>
              </a:lnSpc>
              <a:spcBef>
                <a:spcPts val="0"/>
              </a:spcBef>
              <a:spcAft>
                <a:spcPts val="0"/>
              </a:spcAft>
              <a:buClr>
                <a:srgbClr val="000000"/>
              </a:buClr>
              <a:buSzTx/>
              <a:buFontTx/>
              <a:buNone/>
              <a:tabLst/>
              <a:defRPr/>
            </a:pPr>
            <a:r>
              <a:rPr lang="en-GB" sz="2300" dirty="0">
                <a:solidFill>
                  <a:prstClr val="black"/>
                </a:solidFill>
                <a:latin typeface="Fira Code"/>
                <a:ea typeface="Fira Code"/>
                <a:cs typeface="Fira Code"/>
                <a:sym typeface="Fira Code"/>
              </a:rPr>
              <a:t>6. </a:t>
            </a:r>
            <a:r>
              <a:rPr kumimoji="0" lang="en-GB" sz="2300" b="0" i="0" u="none" strike="noStrike" kern="0" cap="none" spc="0" normalizeH="0" baseline="0" noProof="0" dirty="0">
                <a:ln>
                  <a:noFill/>
                </a:ln>
                <a:solidFill>
                  <a:prstClr val="black"/>
                </a:solidFill>
                <a:effectLst/>
                <a:uLnTx/>
                <a:uFillTx/>
                <a:latin typeface="Fira Code"/>
                <a:ea typeface="Fira Code"/>
                <a:cs typeface="Fira Code"/>
                <a:sym typeface="Fira Code"/>
              </a:rPr>
              <a:t>IMPLIMENTING THE MODEL</a:t>
            </a:r>
          </a:p>
          <a:p>
            <a:pPr marL="0" marR="0" lvl="0" indent="0" algn="l" defTabSz="1219170" rtl="0" eaLnBrk="1" fontAlgn="auto" latinLnBrk="0" hangingPunct="1">
              <a:lnSpc>
                <a:spcPct val="150000"/>
              </a:lnSpc>
              <a:spcBef>
                <a:spcPts val="0"/>
              </a:spcBef>
              <a:spcAft>
                <a:spcPts val="0"/>
              </a:spcAft>
              <a:buClr>
                <a:srgbClr val="000000"/>
              </a:buClr>
              <a:buSzTx/>
              <a:buFontTx/>
              <a:buNone/>
              <a:tabLst/>
              <a:defRPr/>
            </a:pPr>
            <a:r>
              <a:rPr kumimoji="0" lang="en-GB" sz="2300" b="0" i="0" u="none" strike="noStrike" kern="0" cap="none" spc="0" normalizeH="0" baseline="0" noProof="0" dirty="0">
                <a:ln>
                  <a:noFill/>
                </a:ln>
                <a:solidFill>
                  <a:prstClr val="black"/>
                </a:solidFill>
                <a:effectLst/>
                <a:uLnTx/>
                <a:uFillTx/>
                <a:latin typeface="Fira Code"/>
                <a:ea typeface="Fira Code"/>
                <a:cs typeface="Fira Code"/>
                <a:sym typeface="Fira Code"/>
              </a:rPr>
              <a:t>7. TRAINING AND TESTING</a:t>
            </a:r>
          </a:p>
        </p:txBody>
      </p:sp>
      <p:sp>
        <p:nvSpPr>
          <p:cNvPr id="30" name="Google Shape;653;p34">
            <a:extLst>
              <a:ext uri="{FF2B5EF4-FFF2-40B4-BE49-F238E27FC236}">
                <a16:creationId xmlns:a16="http://schemas.microsoft.com/office/drawing/2014/main" id="{F08FDCA7-8D01-F9DE-0A35-B524B5CD6B4C}"/>
              </a:ext>
            </a:extLst>
          </p:cNvPr>
          <p:cNvSpPr/>
          <p:nvPr/>
        </p:nvSpPr>
        <p:spPr>
          <a:xfrm>
            <a:off x="6687117" y="4609774"/>
            <a:ext cx="154000" cy="154000"/>
          </a:xfrm>
          <a:prstGeom prst="ellipse">
            <a:avLst/>
          </a:prstGeom>
          <a:noFill/>
          <a:ln>
            <a:noFill/>
          </a:ln>
        </p:spPr>
        <p:txBody>
          <a:bodyPr spcFirstLastPara="1" wrap="square" lIns="121900" tIns="121900" rIns="121900" bIns="121900" anchor="ctr" anchorCtr="0">
            <a:noAutofit/>
          </a:bodyPr>
          <a:lstStyle/>
          <a:p>
            <a:pPr algn="l" defTabSz="1219170" rtl="0">
              <a:buClr>
                <a:srgbClr val="000000"/>
              </a:buClr>
            </a:pPr>
            <a:endParaRPr sz="1867">
              <a:solidFill>
                <a:srgbClr val="000000"/>
              </a:solidFill>
              <a:latin typeface="Arial"/>
              <a:ea typeface="+mn-ea"/>
              <a:cs typeface="Arial"/>
              <a:sym typeface="Arial"/>
            </a:endParaRPr>
          </a:p>
        </p:txBody>
      </p:sp>
      <p:cxnSp>
        <p:nvCxnSpPr>
          <p:cNvPr id="31" name="Google Shape;648;p34">
            <a:extLst>
              <a:ext uri="{FF2B5EF4-FFF2-40B4-BE49-F238E27FC236}">
                <a16:creationId xmlns:a16="http://schemas.microsoft.com/office/drawing/2014/main" id="{F64A8EC0-5761-0453-9A93-9C452B17E99B}"/>
              </a:ext>
            </a:extLst>
          </p:cNvPr>
          <p:cNvCxnSpPr>
            <a:cxnSpLocks/>
          </p:cNvCxnSpPr>
          <p:nvPr/>
        </p:nvCxnSpPr>
        <p:spPr>
          <a:xfrm>
            <a:off x="6757807" y="4467226"/>
            <a:ext cx="393200" cy="0"/>
          </a:xfrm>
          <a:prstGeom prst="straightConnector1">
            <a:avLst/>
          </a:prstGeom>
          <a:noFill/>
          <a:ln w="9525" cap="flat" cmpd="sng">
            <a:solidFill>
              <a:srgbClr val="707070"/>
            </a:solidFill>
            <a:prstDash val="solid"/>
            <a:round/>
            <a:headEnd type="none" w="med" len="med"/>
            <a:tailEnd type="none" w="med" len="med"/>
          </a:ln>
        </p:spPr>
      </p:cxnSp>
      <p:cxnSp>
        <p:nvCxnSpPr>
          <p:cNvPr id="32" name="Google Shape;648;p34">
            <a:extLst>
              <a:ext uri="{FF2B5EF4-FFF2-40B4-BE49-F238E27FC236}">
                <a16:creationId xmlns:a16="http://schemas.microsoft.com/office/drawing/2014/main" id="{E558DC9F-35CC-5DF6-89EF-AFEAC6018DD6}"/>
              </a:ext>
            </a:extLst>
          </p:cNvPr>
          <p:cNvCxnSpPr>
            <a:cxnSpLocks/>
          </p:cNvCxnSpPr>
          <p:nvPr/>
        </p:nvCxnSpPr>
        <p:spPr>
          <a:xfrm>
            <a:off x="6757807" y="4994276"/>
            <a:ext cx="393200" cy="0"/>
          </a:xfrm>
          <a:prstGeom prst="straightConnector1">
            <a:avLst/>
          </a:prstGeom>
          <a:noFill/>
          <a:ln w="9525" cap="flat" cmpd="sng">
            <a:solidFill>
              <a:srgbClr val="707070"/>
            </a:solidFill>
            <a:prstDash val="solid"/>
            <a:round/>
            <a:headEnd type="none" w="med" len="med"/>
            <a:tailEnd type="none" w="med" len="med"/>
          </a:ln>
        </p:spPr>
      </p:cxnSp>
      <p:cxnSp>
        <p:nvCxnSpPr>
          <p:cNvPr id="33" name="Google Shape;648;p34">
            <a:extLst>
              <a:ext uri="{FF2B5EF4-FFF2-40B4-BE49-F238E27FC236}">
                <a16:creationId xmlns:a16="http://schemas.microsoft.com/office/drawing/2014/main" id="{0102A7EB-F434-B2FD-E296-A07E76BE742E}"/>
              </a:ext>
            </a:extLst>
          </p:cNvPr>
          <p:cNvCxnSpPr>
            <a:cxnSpLocks/>
          </p:cNvCxnSpPr>
          <p:nvPr/>
        </p:nvCxnSpPr>
        <p:spPr>
          <a:xfrm>
            <a:off x="6757807" y="5535614"/>
            <a:ext cx="393200" cy="0"/>
          </a:xfrm>
          <a:prstGeom prst="straightConnector1">
            <a:avLst/>
          </a:prstGeom>
          <a:noFill/>
          <a:ln w="9525" cap="flat" cmpd="sng">
            <a:solidFill>
              <a:srgbClr val="707070"/>
            </a:solidFill>
            <a:prstDash val="solid"/>
            <a:round/>
            <a:headEnd type="none" w="med" len="med"/>
            <a:tailEnd type="none" w="med" len="med"/>
          </a:ln>
        </p:spPr>
      </p:cxnSp>
      <p:cxnSp>
        <p:nvCxnSpPr>
          <p:cNvPr id="34" name="Google Shape;647;p34">
            <a:extLst>
              <a:ext uri="{FF2B5EF4-FFF2-40B4-BE49-F238E27FC236}">
                <a16:creationId xmlns:a16="http://schemas.microsoft.com/office/drawing/2014/main" id="{A5E204A9-2D9E-FB6C-64B4-B656BDB6AD42}"/>
              </a:ext>
            </a:extLst>
          </p:cNvPr>
          <p:cNvCxnSpPr>
            <a:cxnSpLocks/>
          </p:cNvCxnSpPr>
          <p:nvPr/>
        </p:nvCxnSpPr>
        <p:spPr>
          <a:xfrm>
            <a:off x="6757807" y="4467226"/>
            <a:ext cx="0" cy="1068388"/>
          </a:xfrm>
          <a:prstGeom prst="straightConnector1">
            <a:avLst/>
          </a:prstGeom>
          <a:noFill/>
          <a:ln w="9525" cap="flat" cmpd="sng">
            <a:solidFill>
              <a:srgbClr val="707070"/>
            </a:solidFill>
            <a:prstDash val="solid"/>
            <a:round/>
            <a:headEnd type="none" w="med" len="med"/>
            <a:tailEnd type="non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22EAE-A6FC-AAFB-C516-DF8CDA50A88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2E46575-782C-7921-07B0-043C0226D14A}"/>
              </a:ext>
            </a:extLst>
          </p:cNvPr>
          <p:cNvSpPr txBox="1"/>
          <p:nvPr/>
        </p:nvSpPr>
        <p:spPr>
          <a:xfrm>
            <a:off x="345839" y="1084045"/>
            <a:ext cx="11769962" cy="1243930"/>
          </a:xfrm>
          <a:prstGeom prst="rect">
            <a:avLst/>
          </a:prstGeom>
        </p:spPr>
        <p:txBody>
          <a:bodyPr vert="horz" wrap="square" lIns="0" tIns="12700" rIns="0" bIns="0" rtlCol="0">
            <a:spAutoFit/>
          </a:bodyPr>
          <a:lstStyle/>
          <a:p>
            <a:pPr>
              <a:spcBef>
                <a:spcPts val="665"/>
              </a:spcBef>
              <a:buClr>
                <a:srgbClr val="00197D"/>
              </a:buClr>
            </a:pPr>
            <a:r>
              <a:rPr lang="en-GB" sz="2000" dirty="0">
                <a:solidFill>
                  <a:srgbClr val="4D4E4F"/>
                </a:solidFill>
                <a:latin typeface="Fira Code" panose="020B0809050000020004" pitchFamily="49" charset="0"/>
                <a:ea typeface="Fira Code" panose="020B0809050000020004" pitchFamily="49" charset="0"/>
                <a:cs typeface="Fira Code" panose="020B0809050000020004" pitchFamily="49" charset="0"/>
              </a:rPr>
              <a:t>C</a:t>
            </a:r>
            <a:r>
              <a:rPr lang="en-GB" sz="2000" b="0" i="0" dirty="0">
                <a:solidFill>
                  <a:srgbClr val="4D4E4F"/>
                </a:solidFill>
                <a:effectLst/>
                <a:latin typeface="Fira Code" panose="020B0809050000020004" pitchFamily="49" charset="0"/>
                <a:ea typeface="Fira Code" panose="020B0809050000020004" pitchFamily="49" charset="0"/>
                <a:cs typeface="Fira Code" panose="020B0809050000020004" pitchFamily="49" charset="0"/>
              </a:rPr>
              <a:t>ombines artificial neural networks with a framework of reinforcement learning that helps software agents learn how to reach their goals. That is, it unites function approximation and target optimization, mapping states and actions to the rewards they lead to.</a:t>
            </a:r>
            <a:endParaRPr sz="2000" dirty="0">
              <a:latin typeface="Fira Code" panose="020B0809050000020004" pitchFamily="49" charset="0"/>
              <a:ea typeface="Fira Code" panose="020B0809050000020004" pitchFamily="49" charset="0"/>
              <a:cs typeface="Fira Code" panose="020B0809050000020004" pitchFamily="49" charset="0"/>
            </a:endParaRPr>
          </a:p>
        </p:txBody>
      </p:sp>
      <p:sp>
        <p:nvSpPr>
          <p:cNvPr id="3" name="object 3">
            <a:extLst>
              <a:ext uri="{FF2B5EF4-FFF2-40B4-BE49-F238E27FC236}">
                <a16:creationId xmlns:a16="http://schemas.microsoft.com/office/drawing/2014/main" id="{C1FE2539-FA53-4B50-199D-BCA4E2BDC81B}"/>
              </a:ext>
            </a:extLst>
          </p:cNvPr>
          <p:cNvSpPr txBox="1">
            <a:spLocks noGrp="1"/>
          </p:cNvSpPr>
          <p:nvPr>
            <p:ph type="title"/>
          </p:nvPr>
        </p:nvSpPr>
        <p:spPr>
          <a:xfrm>
            <a:off x="1947751" y="173736"/>
            <a:ext cx="4576233" cy="366767"/>
          </a:xfrm>
          <a:prstGeom prst="rect">
            <a:avLst/>
          </a:prstGeom>
        </p:spPr>
        <p:txBody>
          <a:bodyPr vert="horz" wrap="square" lIns="0" tIns="12700" rIns="0" bIns="0" rtlCol="0">
            <a:spAutoFit/>
          </a:bodyPr>
          <a:lstStyle/>
          <a:p>
            <a:pPr marL="12700">
              <a:spcBef>
                <a:spcPts val="100"/>
              </a:spcBef>
            </a:pPr>
            <a:r>
              <a:rPr lang="en-GB" spc="-40" dirty="0"/>
              <a:t>Deep Reinforcement Learning</a:t>
            </a:r>
            <a:endParaRPr spc="-20" dirty="0"/>
          </a:p>
        </p:txBody>
      </p:sp>
      <p:sp>
        <p:nvSpPr>
          <p:cNvPr id="7" name="Footer Placeholder 6">
            <a:extLst>
              <a:ext uri="{FF2B5EF4-FFF2-40B4-BE49-F238E27FC236}">
                <a16:creationId xmlns:a16="http://schemas.microsoft.com/office/drawing/2014/main" id="{40801D7B-C107-5749-B83F-AEF6152B2542}"/>
              </a:ext>
            </a:extLst>
          </p:cNvPr>
          <p:cNvSpPr>
            <a:spLocks noGrp="1"/>
          </p:cNvSpPr>
          <p:nvPr>
            <p:ph type="ftr" sz="quarter" idx="5"/>
          </p:nvPr>
        </p:nvSpPr>
        <p:spPr/>
        <p:txBody>
          <a:bodyPr/>
          <a:lstStyle/>
          <a:p>
            <a:pPr marL="12700">
              <a:spcBef>
                <a:spcPts val="5"/>
              </a:spcBef>
            </a:pPr>
            <a:r>
              <a:rPr lang="en-GB"/>
              <a:t>University of Applied Sciences Hamm-Lippstadt</a:t>
            </a:r>
            <a:endParaRPr lang="en-GB" spc="-10" dirty="0"/>
          </a:p>
        </p:txBody>
      </p:sp>
      <p:sp>
        <p:nvSpPr>
          <p:cNvPr id="10" name="Slide Number Placeholder 9">
            <a:extLst>
              <a:ext uri="{FF2B5EF4-FFF2-40B4-BE49-F238E27FC236}">
                <a16:creationId xmlns:a16="http://schemas.microsoft.com/office/drawing/2014/main" id="{81C91E07-1EEF-1D82-1671-C2982A7B09E4}"/>
              </a:ext>
            </a:extLst>
          </p:cNvPr>
          <p:cNvSpPr>
            <a:spLocks noGrp="1"/>
          </p:cNvSpPr>
          <p:nvPr>
            <p:ph type="sldNum" sz="quarter" idx="7"/>
          </p:nvPr>
        </p:nvSpPr>
        <p:spPr/>
        <p:txBody>
          <a:bodyPr/>
          <a:lstStyle/>
          <a:p>
            <a:pPr marL="12700">
              <a:spcBef>
                <a:spcPts val="30"/>
              </a:spcBef>
            </a:pPr>
            <a:r>
              <a:rPr lang="en-DE" dirty="0"/>
              <a:t>0</a:t>
            </a:r>
            <a:r>
              <a:rPr lang="en-GB" dirty="0"/>
              <a:t>6</a:t>
            </a:r>
            <a:r>
              <a:rPr lang="en-DE" dirty="0"/>
              <a:t>.</a:t>
            </a:r>
            <a:r>
              <a:rPr lang="en-GB" dirty="0"/>
              <a:t>02</a:t>
            </a:r>
            <a:r>
              <a:rPr lang="en-DE" dirty="0"/>
              <a:t>.2</a:t>
            </a:r>
            <a:r>
              <a:rPr lang="en-GB" dirty="0"/>
              <a:t>4</a:t>
            </a:r>
            <a:r>
              <a:rPr lang="en-DE" spc="135" dirty="0"/>
              <a:t>  </a:t>
            </a:r>
            <a:r>
              <a:rPr lang="en-DE" dirty="0"/>
              <a:t>&lt;</a:t>
            </a:r>
            <a:r>
              <a:rPr lang="en-DE" spc="-5" dirty="0"/>
              <a:t> </a:t>
            </a:r>
            <a:fld id="{81D60167-4931-47E6-BA6A-407CBD079E47}" type="slidenum">
              <a:rPr smtClean="0"/>
              <a:pPr marL="12700">
                <a:spcBef>
                  <a:spcPts val="30"/>
                </a:spcBef>
              </a:pPr>
              <a:t>3</a:t>
            </a:fld>
            <a:r>
              <a:rPr spc="-15" dirty="0"/>
              <a:t> </a:t>
            </a:r>
            <a:r>
              <a:rPr spc="-50" dirty="0"/>
              <a:t>&gt;</a:t>
            </a:r>
          </a:p>
        </p:txBody>
      </p:sp>
      <p:pic>
        <p:nvPicPr>
          <p:cNvPr id="13" name="Picture 12" descr="A person sitting at a chess board&#10;&#10;Description automatically generated">
            <a:extLst>
              <a:ext uri="{FF2B5EF4-FFF2-40B4-BE49-F238E27FC236}">
                <a16:creationId xmlns:a16="http://schemas.microsoft.com/office/drawing/2014/main" id="{2ED5EF0A-6B45-5682-FF2B-DCBC9F413DE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4074" t="10000" r="24814" b="5555"/>
          <a:stretch/>
        </p:blipFill>
        <p:spPr>
          <a:xfrm>
            <a:off x="838200" y="2632744"/>
            <a:ext cx="2847022" cy="3135850"/>
          </a:xfrm>
          <a:prstGeom prst="rect">
            <a:avLst/>
          </a:prstGeom>
        </p:spPr>
      </p:pic>
      <p:pic>
        <p:nvPicPr>
          <p:cNvPr id="14" name="Picture 13" descr="A diagram of a diagram&#10;&#10;Description automatically generated">
            <a:extLst>
              <a:ext uri="{FF2B5EF4-FFF2-40B4-BE49-F238E27FC236}">
                <a16:creationId xmlns:a16="http://schemas.microsoft.com/office/drawing/2014/main" id="{B88C0ECD-3E4F-60EA-8B36-4B375C2B62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1506" y="2478237"/>
            <a:ext cx="6335546" cy="3291721"/>
          </a:xfrm>
          <a:prstGeom prst="rect">
            <a:avLst/>
          </a:prstGeom>
        </p:spPr>
      </p:pic>
      <p:sp>
        <p:nvSpPr>
          <p:cNvPr id="15" name="TextBox 14">
            <a:extLst>
              <a:ext uri="{FF2B5EF4-FFF2-40B4-BE49-F238E27FC236}">
                <a16:creationId xmlns:a16="http://schemas.microsoft.com/office/drawing/2014/main" id="{2B4C0104-2868-C0B8-AD7C-3844FF349517}"/>
              </a:ext>
            </a:extLst>
          </p:cNvPr>
          <p:cNvSpPr txBox="1"/>
          <p:nvPr/>
        </p:nvSpPr>
        <p:spPr>
          <a:xfrm>
            <a:off x="325786" y="5985486"/>
            <a:ext cx="5457987" cy="400110"/>
          </a:xfrm>
          <a:prstGeom prst="rect">
            <a:avLst/>
          </a:prstGeom>
          <a:noFill/>
        </p:spPr>
        <p:txBody>
          <a:bodyPr wrap="square" rtlCol="0">
            <a:spAutoFit/>
          </a:bodyPr>
          <a:lstStyle/>
          <a:p>
            <a:r>
              <a:rPr lang="en-GB" sz="2000" dirty="0">
                <a:latin typeface="Fira Code" panose="020B0809050000020004" pitchFamily="49" charset="0"/>
                <a:ea typeface="Fira Code" panose="020B0809050000020004" pitchFamily="49" charset="0"/>
                <a:cs typeface="Fira Code" panose="020B0809050000020004" pitchFamily="49" charset="0"/>
              </a:rPr>
              <a:t>Brain Stimulation: Reward/ Penalty</a:t>
            </a:r>
            <a:endParaRPr lang="LID4096" sz="2000" dirty="0">
              <a:latin typeface="Fira Code" panose="020B0809050000020004" pitchFamily="49" charset="0"/>
              <a:ea typeface="Fira Code" panose="020B0809050000020004" pitchFamily="49" charset="0"/>
              <a:cs typeface="Fira Code" panose="020B0809050000020004" pitchFamily="49" charset="0"/>
            </a:endParaRPr>
          </a:p>
        </p:txBody>
      </p:sp>
      <p:sp>
        <p:nvSpPr>
          <p:cNvPr id="16" name="TextBox 15">
            <a:extLst>
              <a:ext uri="{FF2B5EF4-FFF2-40B4-BE49-F238E27FC236}">
                <a16:creationId xmlns:a16="http://schemas.microsoft.com/office/drawing/2014/main" id="{DE22E2D2-6194-DFFC-40D2-D0C5A868F77F}"/>
              </a:ext>
            </a:extLst>
          </p:cNvPr>
          <p:cNvSpPr txBox="1"/>
          <p:nvPr/>
        </p:nvSpPr>
        <p:spPr>
          <a:xfrm>
            <a:off x="7695931" y="5985486"/>
            <a:ext cx="1906696" cy="400110"/>
          </a:xfrm>
          <a:prstGeom prst="rect">
            <a:avLst/>
          </a:prstGeom>
          <a:noFill/>
        </p:spPr>
        <p:txBody>
          <a:bodyPr wrap="square" rtlCol="0">
            <a:spAutoFit/>
          </a:bodyPr>
          <a:lstStyle/>
          <a:p>
            <a:r>
              <a:rPr lang="en-GB" sz="2000" dirty="0">
                <a:latin typeface="Fira Code" panose="020B0809050000020004" pitchFamily="49" charset="0"/>
                <a:ea typeface="Fira Code" panose="020B0809050000020004" pitchFamily="49" charset="0"/>
                <a:cs typeface="Fira Code" panose="020B0809050000020004" pitchFamily="49" charset="0"/>
              </a:rPr>
              <a:t>DRL Process</a:t>
            </a:r>
            <a:endParaRPr lang="LID4096" sz="2000" dirty="0">
              <a:latin typeface="Fira Code" panose="020B0809050000020004" pitchFamily="49" charset="0"/>
              <a:ea typeface="Fira Code" panose="020B0809050000020004" pitchFamily="49" charset="0"/>
              <a:cs typeface="Fira Code" panose="020B0809050000020004" pitchFamily="49" charset="0"/>
            </a:endParaRPr>
          </a:p>
        </p:txBody>
      </p:sp>
    </p:spTree>
    <p:extLst>
      <p:ext uri="{BB962C8B-B14F-4D97-AF65-F5344CB8AC3E}">
        <p14:creationId xmlns:p14="http://schemas.microsoft.com/office/powerpoint/2010/main" val="40930364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47751" y="173736"/>
            <a:ext cx="4576233" cy="382156"/>
          </a:xfrm>
          <a:prstGeom prst="rect">
            <a:avLst/>
          </a:prstGeom>
        </p:spPr>
        <p:txBody>
          <a:bodyPr vert="horz" wrap="square" lIns="0" tIns="12700" rIns="0" bIns="0" rtlCol="0">
            <a:spAutoFit/>
          </a:bodyPr>
          <a:lstStyle/>
          <a:p>
            <a:pPr marL="12700">
              <a:spcBef>
                <a:spcPts val="100"/>
              </a:spcBef>
            </a:pPr>
            <a:r>
              <a:rPr lang="en-GB" sz="2400" dirty="0"/>
              <a:t>Q-Learning and DQ-Learning</a:t>
            </a:r>
            <a:endParaRPr spc="-25" dirty="0"/>
          </a:p>
        </p:txBody>
      </p:sp>
      <p:sp>
        <p:nvSpPr>
          <p:cNvPr id="3" name="object 3"/>
          <p:cNvSpPr txBox="1">
            <a:spLocks noGrp="1"/>
          </p:cNvSpPr>
          <p:nvPr>
            <p:ph type="body" idx="1"/>
          </p:nvPr>
        </p:nvSpPr>
        <p:spPr>
          <a:xfrm>
            <a:off x="370937" y="1004794"/>
            <a:ext cx="11963400" cy="2444259"/>
          </a:xfrm>
          <a:prstGeom prst="rect">
            <a:avLst/>
          </a:prstGeom>
        </p:spPr>
        <p:txBody>
          <a:bodyPr vert="horz" wrap="square" lIns="0" tIns="43180" rIns="0" bIns="0" rtlCol="0">
            <a:spAutoFit/>
          </a:bodyPr>
          <a:lstStyle/>
          <a:p>
            <a:r>
              <a:rPr lang="en-GB" sz="2300" b="0" i="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Q-Learning </a:t>
            </a:r>
            <a:r>
              <a:rPr lang="en-GB" sz="2300" dirty="0">
                <a:solidFill>
                  <a:srgbClr val="000000"/>
                </a:solidFill>
                <a:latin typeface="Fira Code" panose="020B0809050000020004" pitchFamily="49" charset="0"/>
                <a:ea typeface="Fira Code" panose="020B0809050000020004" pitchFamily="49" charset="0"/>
                <a:cs typeface="Fira Code" panose="020B0809050000020004" pitchFamily="49" charset="0"/>
              </a:rPr>
              <a:t>i</a:t>
            </a:r>
            <a:r>
              <a:rPr lang="en-GB" sz="2300" b="0" i="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s a value-based algorithm that is used to find the optimal policy for an agent in a given environment. It determines the best series of actions through the Bellman Equation.</a:t>
            </a:r>
          </a:p>
          <a:p>
            <a:r>
              <a:rPr lang="en-GB" sz="2300" b="0" i="0" dirty="0">
                <a:solidFill>
                  <a:srgbClr val="000000"/>
                </a:solidFill>
                <a:effectLst/>
                <a:latin typeface="Fira Code" panose="020B0809050000020004" pitchFamily="49" charset="0"/>
                <a:ea typeface="Fira Code" panose="020B0809050000020004" pitchFamily="49" charset="0"/>
                <a:cs typeface="Fira Code" panose="020B0809050000020004" pitchFamily="49" charset="0"/>
              </a:rPr>
              <a:t>Deep Q-Learning is introduced when Q-Learning fails to calculate many states and actions.</a:t>
            </a:r>
            <a:r>
              <a:rPr lang="en-GB" sz="2300" dirty="0">
                <a:latin typeface="Fira Code" panose="020B0809050000020004" pitchFamily="49" charset="0"/>
                <a:ea typeface="Fira Code" panose="020B0809050000020004" pitchFamily="49" charset="0"/>
                <a:cs typeface="Fira Code" panose="020B0809050000020004" pitchFamily="49" charset="0"/>
              </a:rPr>
              <a:t> </a:t>
            </a:r>
            <a:br>
              <a:rPr lang="en-GB" dirty="0">
                <a:latin typeface="Arial" panose="020B0604020202020204" pitchFamily="34" charset="0"/>
                <a:cs typeface="Arial" panose="020B0604020202020204" pitchFamily="34" charset="0"/>
              </a:rPr>
            </a:br>
            <a:br>
              <a:rPr lang="en-GB" dirty="0"/>
            </a:br>
            <a:endParaRPr lang="en-GB" dirty="0">
              <a:latin typeface="Arial" panose="020B0604020202020204" pitchFamily="34" charset="0"/>
              <a:cs typeface="Arial" panose="020B0604020202020204" pitchFamily="34" charset="0"/>
            </a:endParaRPr>
          </a:p>
        </p:txBody>
      </p:sp>
      <p:sp>
        <p:nvSpPr>
          <p:cNvPr id="7" name="Footer Placeholder 6">
            <a:extLst>
              <a:ext uri="{FF2B5EF4-FFF2-40B4-BE49-F238E27FC236}">
                <a16:creationId xmlns:a16="http://schemas.microsoft.com/office/drawing/2014/main" id="{E0395AFC-CF0B-261E-124B-FA377C79FBAC}"/>
              </a:ext>
            </a:extLst>
          </p:cNvPr>
          <p:cNvSpPr>
            <a:spLocks noGrp="1"/>
          </p:cNvSpPr>
          <p:nvPr>
            <p:ph type="ftr" sz="quarter" idx="5"/>
          </p:nvPr>
        </p:nvSpPr>
        <p:spPr/>
        <p:txBody>
          <a:bodyPr/>
          <a:lstStyle/>
          <a:p>
            <a:pPr marL="12700">
              <a:spcBef>
                <a:spcPts val="5"/>
              </a:spcBef>
            </a:pPr>
            <a:r>
              <a:rPr lang="en-GB"/>
              <a:t>University of Applied Sciences Hamm-Lippstadt</a:t>
            </a:r>
            <a:endParaRPr lang="en-GB" spc="-10" dirty="0"/>
          </a:p>
        </p:txBody>
      </p:sp>
      <p:sp>
        <p:nvSpPr>
          <p:cNvPr id="10" name="Slide Number Placeholder 9">
            <a:extLst>
              <a:ext uri="{FF2B5EF4-FFF2-40B4-BE49-F238E27FC236}">
                <a16:creationId xmlns:a16="http://schemas.microsoft.com/office/drawing/2014/main" id="{E1432AFD-AB8F-C196-D375-41E5F3CCB6B2}"/>
              </a:ext>
            </a:extLst>
          </p:cNvPr>
          <p:cNvSpPr>
            <a:spLocks noGrp="1"/>
          </p:cNvSpPr>
          <p:nvPr>
            <p:ph type="sldNum" sz="quarter" idx="7"/>
          </p:nvPr>
        </p:nvSpPr>
        <p:spPr/>
        <p:txBody>
          <a:bodyPr/>
          <a:lstStyle/>
          <a:p>
            <a:pPr marL="12700">
              <a:spcBef>
                <a:spcPts val="30"/>
              </a:spcBef>
            </a:pPr>
            <a:r>
              <a:rPr lang="en-DE" dirty="0"/>
              <a:t>0</a:t>
            </a:r>
            <a:r>
              <a:rPr lang="en-GB" dirty="0"/>
              <a:t>6</a:t>
            </a:r>
            <a:r>
              <a:rPr lang="en-DE" dirty="0"/>
              <a:t>.</a:t>
            </a:r>
            <a:r>
              <a:rPr lang="en-GB" dirty="0"/>
              <a:t>02</a:t>
            </a:r>
            <a:r>
              <a:rPr lang="en-DE" dirty="0"/>
              <a:t>.2</a:t>
            </a:r>
            <a:r>
              <a:rPr lang="en-GB" dirty="0"/>
              <a:t>4</a:t>
            </a:r>
            <a:r>
              <a:rPr lang="en-DE" spc="135" dirty="0"/>
              <a:t>  </a:t>
            </a:r>
            <a:r>
              <a:rPr lang="en-DE" dirty="0"/>
              <a:t>&lt;</a:t>
            </a:r>
            <a:r>
              <a:rPr lang="en-DE" spc="-5" dirty="0"/>
              <a:t> </a:t>
            </a:r>
            <a:fld id="{81D60167-4931-47E6-BA6A-407CBD079E47}" type="slidenum">
              <a:rPr smtClean="0"/>
              <a:pPr marL="12700">
                <a:spcBef>
                  <a:spcPts val="30"/>
                </a:spcBef>
              </a:pPr>
              <a:t>4</a:t>
            </a:fld>
            <a:r>
              <a:rPr spc="-15" dirty="0"/>
              <a:t> </a:t>
            </a:r>
            <a:r>
              <a:rPr spc="-50" dirty="0"/>
              <a:t>&gt;</a:t>
            </a:r>
          </a:p>
        </p:txBody>
      </p:sp>
      <p:pic>
        <p:nvPicPr>
          <p:cNvPr id="11" name="Picture 10" descr="A diagram of a state&#10;&#10;Description automatically generated">
            <a:extLst>
              <a:ext uri="{FF2B5EF4-FFF2-40B4-BE49-F238E27FC236}">
                <a16:creationId xmlns:a16="http://schemas.microsoft.com/office/drawing/2014/main" id="{03954716-2BAE-F1DF-BC55-63C08A53B2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2480" y="2906679"/>
            <a:ext cx="10827040" cy="369629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ECCB1-0ADA-9838-DC47-309A8CF52B9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539859F-F830-69C7-B172-85D6C1418E0D}"/>
              </a:ext>
            </a:extLst>
          </p:cNvPr>
          <p:cNvSpPr txBox="1">
            <a:spLocks noGrp="1"/>
          </p:cNvSpPr>
          <p:nvPr>
            <p:ph type="title"/>
          </p:nvPr>
        </p:nvSpPr>
        <p:spPr>
          <a:xfrm>
            <a:off x="1947751" y="173736"/>
            <a:ext cx="4576233" cy="366767"/>
          </a:xfrm>
          <a:prstGeom prst="rect">
            <a:avLst/>
          </a:prstGeom>
        </p:spPr>
        <p:txBody>
          <a:bodyPr vert="horz" wrap="square" lIns="0" tIns="12700" rIns="0" bIns="0" rtlCol="0">
            <a:spAutoFit/>
          </a:bodyPr>
          <a:lstStyle/>
          <a:p>
            <a:pPr marL="12700">
              <a:spcBef>
                <a:spcPts val="100"/>
              </a:spcBef>
            </a:pPr>
            <a:r>
              <a:rPr lang="en-GB" dirty="0"/>
              <a:t>IMPLEM. THE SNAKE GAME</a:t>
            </a:r>
            <a:endParaRPr spc="-50" dirty="0"/>
          </a:p>
        </p:txBody>
      </p:sp>
      <p:sp>
        <p:nvSpPr>
          <p:cNvPr id="10" name="Footer Placeholder 9">
            <a:extLst>
              <a:ext uri="{FF2B5EF4-FFF2-40B4-BE49-F238E27FC236}">
                <a16:creationId xmlns:a16="http://schemas.microsoft.com/office/drawing/2014/main" id="{B46933E9-5812-9F87-4136-6566A18F16F3}"/>
              </a:ext>
            </a:extLst>
          </p:cNvPr>
          <p:cNvSpPr>
            <a:spLocks noGrp="1"/>
          </p:cNvSpPr>
          <p:nvPr>
            <p:ph type="ftr" sz="quarter" idx="5"/>
          </p:nvPr>
        </p:nvSpPr>
        <p:spPr/>
        <p:txBody>
          <a:bodyPr/>
          <a:lstStyle/>
          <a:p>
            <a:pPr marL="12700">
              <a:spcBef>
                <a:spcPts val="5"/>
              </a:spcBef>
            </a:pPr>
            <a:r>
              <a:rPr lang="en-GB"/>
              <a:t>University of Applied Sciences Hamm-Lippstadt</a:t>
            </a:r>
            <a:endParaRPr lang="en-GB" spc="-10" dirty="0"/>
          </a:p>
        </p:txBody>
      </p:sp>
      <p:sp>
        <p:nvSpPr>
          <p:cNvPr id="13" name="Slide Number Placeholder 12">
            <a:extLst>
              <a:ext uri="{FF2B5EF4-FFF2-40B4-BE49-F238E27FC236}">
                <a16:creationId xmlns:a16="http://schemas.microsoft.com/office/drawing/2014/main" id="{8C228C2C-1664-38FA-3C4B-40B651F493F5}"/>
              </a:ext>
            </a:extLst>
          </p:cNvPr>
          <p:cNvSpPr>
            <a:spLocks noGrp="1"/>
          </p:cNvSpPr>
          <p:nvPr>
            <p:ph type="sldNum" sz="quarter" idx="7"/>
          </p:nvPr>
        </p:nvSpPr>
        <p:spPr/>
        <p:txBody>
          <a:bodyPr/>
          <a:lstStyle/>
          <a:p>
            <a:pPr marL="12700">
              <a:spcBef>
                <a:spcPts val="30"/>
              </a:spcBef>
            </a:pPr>
            <a:r>
              <a:rPr lang="en-DE" dirty="0"/>
              <a:t>0</a:t>
            </a:r>
            <a:r>
              <a:rPr lang="en-GB" dirty="0"/>
              <a:t>6</a:t>
            </a:r>
            <a:r>
              <a:rPr lang="en-DE" dirty="0"/>
              <a:t>.</a:t>
            </a:r>
            <a:r>
              <a:rPr lang="en-GB" dirty="0"/>
              <a:t>02</a:t>
            </a:r>
            <a:r>
              <a:rPr lang="en-DE" dirty="0"/>
              <a:t>.2</a:t>
            </a:r>
            <a:r>
              <a:rPr lang="en-GB" dirty="0"/>
              <a:t>4</a:t>
            </a:r>
            <a:r>
              <a:rPr lang="en-DE" spc="135" dirty="0"/>
              <a:t>  </a:t>
            </a:r>
            <a:r>
              <a:rPr lang="en-DE" dirty="0"/>
              <a:t>&lt;</a:t>
            </a:r>
            <a:r>
              <a:rPr lang="en-DE" spc="-5" dirty="0"/>
              <a:t> </a:t>
            </a:r>
            <a:fld id="{81D60167-4931-47E6-BA6A-407CBD079E47}" type="slidenum">
              <a:rPr smtClean="0"/>
              <a:pPr marL="12700">
                <a:spcBef>
                  <a:spcPts val="30"/>
                </a:spcBef>
              </a:pPr>
              <a:t>5</a:t>
            </a:fld>
            <a:r>
              <a:rPr spc="-15" dirty="0"/>
              <a:t> </a:t>
            </a:r>
            <a:r>
              <a:rPr spc="-50" dirty="0"/>
              <a:t>&gt;</a:t>
            </a:r>
          </a:p>
        </p:txBody>
      </p:sp>
      <p:sp>
        <p:nvSpPr>
          <p:cNvPr id="12" name="Google Shape;637;p34">
            <a:extLst>
              <a:ext uri="{FF2B5EF4-FFF2-40B4-BE49-F238E27FC236}">
                <a16:creationId xmlns:a16="http://schemas.microsoft.com/office/drawing/2014/main" id="{CA851698-2A52-56F1-17BC-300C0B3BB481}"/>
              </a:ext>
            </a:extLst>
          </p:cNvPr>
          <p:cNvSpPr txBox="1"/>
          <p:nvPr/>
        </p:nvSpPr>
        <p:spPr>
          <a:xfrm>
            <a:off x="226484" y="991808"/>
            <a:ext cx="6491607" cy="1524656"/>
          </a:xfrm>
          <a:prstGeom prst="rect">
            <a:avLst/>
          </a:prstGeom>
          <a:noFill/>
          <a:ln>
            <a:noFill/>
          </a:ln>
        </p:spPr>
        <p:txBody>
          <a:bodyPr spcFirstLastPara="1" wrap="square" lIns="121900" tIns="121900" rIns="121900" bIns="121900" anchor="ctr" anchorCtr="0">
            <a:noAutofit/>
          </a:bodyPr>
          <a:lstStyle/>
          <a:p>
            <a:pPr algn="l" defTabSz="1219170" rtl="0">
              <a:lnSpc>
                <a:spcPct val="150000"/>
              </a:lnSpc>
              <a:buClr>
                <a:srgbClr val="000000"/>
              </a:buClr>
            </a:pPr>
            <a:r>
              <a:rPr lang="en-GB" sz="2300" dirty="0">
                <a:solidFill>
                  <a:schemeClr val="tx1"/>
                </a:solidFill>
                <a:latin typeface="Fira Code"/>
                <a:ea typeface="Fira Code"/>
                <a:cs typeface="Fira Code"/>
                <a:sym typeface="Fira Code"/>
              </a:rPr>
              <a:t>1. Basic Components Construction:</a:t>
            </a:r>
          </a:p>
          <a:p>
            <a:pPr algn="l" defTabSz="1219170" rtl="0">
              <a:lnSpc>
                <a:spcPct val="150000"/>
              </a:lnSpc>
              <a:buClr>
                <a:srgbClr val="000000"/>
              </a:buClr>
            </a:pPr>
            <a:r>
              <a:rPr lang="en-GB" sz="2300" dirty="0">
                <a:solidFill>
                  <a:schemeClr val="tx1"/>
                </a:solidFill>
                <a:latin typeface="Fira Code"/>
                <a:ea typeface="Fira Code"/>
                <a:cs typeface="Fira Code"/>
                <a:sym typeface="Fira Code"/>
              </a:rPr>
              <a:t> - </a:t>
            </a:r>
            <a:r>
              <a:rPr lang="en-GB" sz="2300" dirty="0">
                <a:solidFill>
                  <a:schemeClr val="tx1"/>
                </a:solidFill>
                <a:highlight>
                  <a:srgbClr val="C0C0C0"/>
                </a:highlight>
                <a:latin typeface="Fira Code"/>
                <a:ea typeface="Fira Code"/>
                <a:cs typeface="Fira Code"/>
                <a:sym typeface="Fira Code"/>
              </a:rPr>
              <a:t>Display</a:t>
            </a:r>
          </a:p>
          <a:p>
            <a:pPr algn="l" defTabSz="1219170" rtl="0">
              <a:lnSpc>
                <a:spcPct val="150000"/>
              </a:lnSpc>
              <a:buClr>
                <a:srgbClr val="000000"/>
              </a:buClr>
            </a:pPr>
            <a:r>
              <a:rPr lang="en-GB" sz="2300" dirty="0">
                <a:solidFill>
                  <a:schemeClr val="tx1"/>
                </a:solidFill>
                <a:latin typeface="Fira Code"/>
                <a:ea typeface="Fira Code"/>
                <a:cs typeface="Fira Code"/>
                <a:sym typeface="Fira Code"/>
              </a:rPr>
              <a:t> - </a:t>
            </a:r>
            <a:r>
              <a:rPr lang="en-GB" sz="2300" dirty="0">
                <a:solidFill>
                  <a:schemeClr val="tx1"/>
                </a:solidFill>
                <a:highlight>
                  <a:srgbClr val="C0C0C0"/>
                </a:highlight>
                <a:latin typeface="Fira Code"/>
                <a:ea typeface="Fira Code"/>
                <a:cs typeface="Fira Code"/>
                <a:sym typeface="Fira Code"/>
              </a:rPr>
              <a:t>Player/Snake</a:t>
            </a:r>
          </a:p>
        </p:txBody>
      </p:sp>
      <p:sp>
        <p:nvSpPr>
          <p:cNvPr id="14" name="Google Shape;655;p34">
            <a:extLst>
              <a:ext uri="{FF2B5EF4-FFF2-40B4-BE49-F238E27FC236}">
                <a16:creationId xmlns:a16="http://schemas.microsoft.com/office/drawing/2014/main" id="{0E28AFBA-A1FE-50F2-3AC9-01C9BB99A869}"/>
              </a:ext>
            </a:extLst>
          </p:cNvPr>
          <p:cNvSpPr/>
          <p:nvPr/>
        </p:nvSpPr>
        <p:spPr>
          <a:xfrm>
            <a:off x="1072310" y="4776156"/>
            <a:ext cx="154000" cy="154000"/>
          </a:xfrm>
          <a:prstGeom prst="ellipse">
            <a:avLst/>
          </a:prstGeom>
          <a:noFill/>
          <a:ln>
            <a:noFill/>
          </a:ln>
        </p:spPr>
        <p:txBody>
          <a:bodyPr spcFirstLastPara="1" wrap="square" lIns="121900" tIns="121900" rIns="121900" bIns="121900" anchor="ctr" anchorCtr="0">
            <a:noAutofit/>
          </a:bodyPr>
          <a:lstStyle/>
          <a:p>
            <a:pPr algn="l" defTabSz="1219170" rtl="0">
              <a:buClr>
                <a:srgbClr val="000000"/>
              </a:buClr>
            </a:pPr>
            <a:endParaRPr sz="1867">
              <a:solidFill>
                <a:srgbClr val="000000"/>
              </a:solidFill>
              <a:latin typeface="Arial"/>
              <a:ea typeface="+mn-ea"/>
              <a:cs typeface="Arial"/>
              <a:sym typeface="Arial"/>
            </a:endParaRPr>
          </a:p>
        </p:txBody>
      </p:sp>
      <p:pic>
        <p:nvPicPr>
          <p:cNvPr id="15" name="Picture 14" descr="A screenshot of a computer&#10;&#10;Description automatically generated">
            <a:extLst>
              <a:ext uri="{FF2B5EF4-FFF2-40B4-BE49-F238E27FC236}">
                <a16:creationId xmlns:a16="http://schemas.microsoft.com/office/drawing/2014/main" id="{BBEF03C9-761A-A1D7-D082-39D064AD209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5189" t="13568" r="25176" b="17484"/>
          <a:stretch/>
        </p:blipFill>
        <p:spPr>
          <a:xfrm>
            <a:off x="7975680" y="1176295"/>
            <a:ext cx="3747524" cy="3001364"/>
          </a:xfrm>
          <a:prstGeom prst="rect">
            <a:avLst/>
          </a:prstGeom>
        </p:spPr>
      </p:pic>
      <p:sp>
        <p:nvSpPr>
          <p:cNvPr id="16" name="TextBox 15">
            <a:extLst>
              <a:ext uri="{FF2B5EF4-FFF2-40B4-BE49-F238E27FC236}">
                <a16:creationId xmlns:a16="http://schemas.microsoft.com/office/drawing/2014/main" id="{9353B6F1-2634-FC8D-41BB-31004C4CAAD5}"/>
              </a:ext>
            </a:extLst>
          </p:cNvPr>
          <p:cNvSpPr txBox="1"/>
          <p:nvPr/>
        </p:nvSpPr>
        <p:spPr>
          <a:xfrm>
            <a:off x="9026918" y="1433221"/>
            <a:ext cx="1915746" cy="598497"/>
          </a:xfrm>
          <a:prstGeom prst="rect">
            <a:avLst/>
          </a:prstGeom>
          <a:noFill/>
        </p:spPr>
        <p:txBody>
          <a:bodyPr wrap="square">
            <a:spAutoFit/>
          </a:bodyPr>
          <a:lstStyle/>
          <a:p>
            <a:pPr algn="l" defTabSz="1219170" rtl="0">
              <a:lnSpc>
                <a:spcPct val="150000"/>
              </a:lnSpc>
              <a:buClr>
                <a:srgbClr val="000000"/>
              </a:buClr>
            </a:pPr>
            <a:r>
              <a:rPr lang="en-GB" sz="2400" b="1" dirty="0">
                <a:solidFill>
                  <a:srgbClr val="E7E7E7"/>
                </a:solidFill>
                <a:latin typeface="Fira Code"/>
                <a:ea typeface="Fira Code"/>
                <a:cs typeface="Fira Code"/>
                <a:sym typeface="Fira Code"/>
              </a:rPr>
              <a:t>(640×480)</a:t>
            </a:r>
          </a:p>
        </p:txBody>
      </p:sp>
      <p:pic>
        <p:nvPicPr>
          <p:cNvPr id="17" name="Picture 16" descr="A screenshot of a computer&#10;&#10;Description automatically generated">
            <a:extLst>
              <a:ext uri="{FF2B5EF4-FFF2-40B4-BE49-F238E27FC236}">
                <a16:creationId xmlns:a16="http://schemas.microsoft.com/office/drawing/2014/main" id="{05C65D37-F125-6658-0C17-593F7A29B2E9}"/>
              </a:ext>
            </a:extLst>
          </p:cNvPr>
          <p:cNvPicPr>
            <a:picLocks noChangeAspect="1"/>
          </p:cNvPicPr>
          <p:nvPr/>
        </p:nvPicPr>
        <p:blipFill rotWithShape="1">
          <a:blip r:embed="rId2">
            <a:extLst>
              <a:ext uri="{28A0092B-C50C-407E-A947-70E740481C1C}">
                <a14:useLocalDpi xmlns:a14="http://schemas.microsoft.com/office/drawing/2010/main" val="0"/>
              </a:ext>
            </a:extLst>
          </a:blip>
          <a:srcRect l="39056" t="50024" r="51506" b="47120"/>
          <a:stretch/>
        </p:blipFill>
        <p:spPr>
          <a:xfrm>
            <a:off x="8824976" y="2692893"/>
            <a:ext cx="1367120" cy="238486"/>
          </a:xfrm>
          <a:prstGeom prst="rect">
            <a:avLst/>
          </a:prstGeom>
        </p:spPr>
      </p:pic>
      <p:pic>
        <p:nvPicPr>
          <p:cNvPr id="18" name="Picture 17" descr="A close-up of a computer code&#10;&#10;Description automatically generated">
            <a:extLst>
              <a:ext uri="{FF2B5EF4-FFF2-40B4-BE49-F238E27FC236}">
                <a16:creationId xmlns:a16="http://schemas.microsoft.com/office/drawing/2014/main" id="{054EC750-3E85-0A1C-49F5-2E467B30EC0B}"/>
              </a:ext>
            </a:extLst>
          </p:cNvPr>
          <p:cNvPicPr>
            <a:picLocks noChangeAspect="1"/>
          </p:cNvPicPr>
          <p:nvPr/>
        </p:nvPicPr>
        <p:blipFill rotWithShape="1">
          <a:blip r:embed="rId3">
            <a:extLst>
              <a:ext uri="{28A0092B-C50C-407E-A947-70E740481C1C}">
                <a14:useLocalDpi xmlns:a14="http://schemas.microsoft.com/office/drawing/2010/main" val="0"/>
              </a:ext>
            </a:extLst>
          </a:blip>
          <a:srcRect b="16533"/>
          <a:stretch/>
        </p:blipFill>
        <p:spPr>
          <a:xfrm>
            <a:off x="374948" y="2875657"/>
            <a:ext cx="7521443" cy="1302002"/>
          </a:xfrm>
          <a:prstGeom prst="rect">
            <a:avLst/>
          </a:prstGeom>
        </p:spPr>
      </p:pic>
      <p:sp>
        <p:nvSpPr>
          <p:cNvPr id="19" name="TextBox 18">
            <a:extLst>
              <a:ext uri="{FF2B5EF4-FFF2-40B4-BE49-F238E27FC236}">
                <a16:creationId xmlns:a16="http://schemas.microsoft.com/office/drawing/2014/main" id="{1C479539-CD79-1F52-AE0C-5FCE70B406B7}"/>
              </a:ext>
            </a:extLst>
          </p:cNvPr>
          <p:cNvSpPr txBox="1"/>
          <p:nvPr/>
        </p:nvSpPr>
        <p:spPr>
          <a:xfrm>
            <a:off x="226484" y="4048751"/>
            <a:ext cx="2214670" cy="598497"/>
          </a:xfrm>
          <a:prstGeom prst="rect">
            <a:avLst/>
          </a:prstGeom>
          <a:noFill/>
        </p:spPr>
        <p:txBody>
          <a:bodyPr wrap="square">
            <a:spAutoFit/>
          </a:bodyPr>
          <a:lstStyle/>
          <a:p>
            <a:pPr algn="l" defTabSz="1219170" rtl="0">
              <a:lnSpc>
                <a:spcPct val="150000"/>
              </a:lnSpc>
              <a:buClr>
                <a:srgbClr val="000000"/>
              </a:buClr>
            </a:pPr>
            <a:r>
              <a:rPr lang="en-GB" sz="2300" dirty="0">
                <a:solidFill>
                  <a:schemeClr val="tx1"/>
                </a:solidFill>
                <a:latin typeface="Fira Code"/>
                <a:ea typeface="Fira Code"/>
                <a:cs typeface="Fira Code"/>
                <a:sym typeface="Fira Code"/>
              </a:rPr>
              <a:t> - </a:t>
            </a:r>
            <a:r>
              <a:rPr lang="en-GB" sz="2300" dirty="0">
                <a:solidFill>
                  <a:schemeClr val="tx1"/>
                </a:solidFill>
                <a:highlight>
                  <a:srgbClr val="C0C0C0"/>
                </a:highlight>
                <a:latin typeface="Fira Code"/>
                <a:ea typeface="Fira Code"/>
                <a:cs typeface="Fira Code"/>
                <a:sym typeface="Fira Code"/>
              </a:rPr>
              <a:t>Food</a:t>
            </a:r>
          </a:p>
        </p:txBody>
      </p:sp>
      <p:pic>
        <p:nvPicPr>
          <p:cNvPr id="20" name="Picture 19" descr="A computer screen shot of a computer code&#10;&#10;Description automatically generated">
            <a:extLst>
              <a:ext uri="{FF2B5EF4-FFF2-40B4-BE49-F238E27FC236}">
                <a16:creationId xmlns:a16="http://schemas.microsoft.com/office/drawing/2014/main" id="{BAC29053-96C6-2C61-B38D-598873331F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5965" y="4780746"/>
            <a:ext cx="9201092" cy="1680743"/>
          </a:xfrm>
          <a:prstGeom prst="rect">
            <a:avLst/>
          </a:prstGeom>
        </p:spPr>
      </p:pic>
    </p:spTree>
    <p:extLst>
      <p:ext uri="{BB962C8B-B14F-4D97-AF65-F5344CB8AC3E}">
        <p14:creationId xmlns:p14="http://schemas.microsoft.com/office/powerpoint/2010/main" val="3288170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B0966-5ED8-83A1-3255-97B49AB2B4B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CD2208EF-79C9-6C31-5E2C-778A2BFF26DF}"/>
              </a:ext>
            </a:extLst>
          </p:cNvPr>
          <p:cNvSpPr txBox="1">
            <a:spLocks noGrp="1"/>
          </p:cNvSpPr>
          <p:nvPr>
            <p:ph type="title"/>
          </p:nvPr>
        </p:nvSpPr>
        <p:spPr>
          <a:xfrm>
            <a:off x="1947751" y="173736"/>
            <a:ext cx="4576233" cy="366767"/>
          </a:xfrm>
          <a:prstGeom prst="rect">
            <a:avLst/>
          </a:prstGeom>
        </p:spPr>
        <p:txBody>
          <a:bodyPr vert="horz" wrap="square" lIns="0" tIns="12700" rIns="0" bIns="0" rtlCol="0">
            <a:spAutoFit/>
          </a:bodyPr>
          <a:lstStyle/>
          <a:p>
            <a:pPr marL="12700">
              <a:spcBef>
                <a:spcPts val="100"/>
              </a:spcBef>
            </a:pPr>
            <a:r>
              <a:rPr lang="en-GB" dirty="0"/>
              <a:t>IMPLEM. THE SNAKE GAME</a:t>
            </a:r>
            <a:endParaRPr spc="-50" dirty="0"/>
          </a:p>
        </p:txBody>
      </p:sp>
      <p:sp>
        <p:nvSpPr>
          <p:cNvPr id="10" name="Footer Placeholder 9">
            <a:extLst>
              <a:ext uri="{FF2B5EF4-FFF2-40B4-BE49-F238E27FC236}">
                <a16:creationId xmlns:a16="http://schemas.microsoft.com/office/drawing/2014/main" id="{2F1288C9-8D92-2764-8373-89A97F5F5621}"/>
              </a:ext>
            </a:extLst>
          </p:cNvPr>
          <p:cNvSpPr>
            <a:spLocks noGrp="1"/>
          </p:cNvSpPr>
          <p:nvPr>
            <p:ph type="ftr" sz="quarter" idx="5"/>
          </p:nvPr>
        </p:nvSpPr>
        <p:spPr/>
        <p:txBody>
          <a:bodyPr/>
          <a:lstStyle/>
          <a:p>
            <a:pPr marL="12700">
              <a:spcBef>
                <a:spcPts val="5"/>
              </a:spcBef>
            </a:pPr>
            <a:r>
              <a:rPr lang="en-GB"/>
              <a:t>University of Applied Sciences Hamm-Lippstadt</a:t>
            </a:r>
            <a:endParaRPr lang="en-GB" spc="-10" dirty="0"/>
          </a:p>
        </p:txBody>
      </p:sp>
      <p:sp>
        <p:nvSpPr>
          <p:cNvPr id="13" name="Slide Number Placeholder 12">
            <a:extLst>
              <a:ext uri="{FF2B5EF4-FFF2-40B4-BE49-F238E27FC236}">
                <a16:creationId xmlns:a16="http://schemas.microsoft.com/office/drawing/2014/main" id="{121B2FA9-CD77-B4CA-C3F8-3BAD115A821D}"/>
              </a:ext>
            </a:extLst>
          </p:cNvPr>
          <p:cNvSpPr>
            <a:spLocks noGrp="1"/>
          </p:cNvSpPr>
          <p:nvPr>
            <p:ph type="sldNum" sz="quarter" idx="7"/>
          </p:nvPr>
        </p:nvSpPr>
        <p:spPr/>
        <p:txBody>
          <a:bodyPr/>
          <a:lstStyle/>
          <a:p>
            <a:pPr marL="12700">
              <a:spcBef>
                <a:spcPts val="30"/>
              </a:spcBef>
            </a:pPr>
            <a:r>
              <a:rPr lang="en-DE" dirty="0"/>
              <a:t>0</a:t>
            </a:r>
            <a:r>
              <a:rPr lang="en-GB" dirty="0"/>
              <a:t>6</a:t>
            </a:r>
            <a:r>
              <a:rPr lang="en-DE" dirty="0"/>
              <a:t>.</a:t>
            </a:r>
            <a:r>
              <a:rPr lang="en-GB" dirty="0"/>
              <a:t>02</a:t>
            </a:r>
            <a:r>
              <a:rPr lang="en-DE" dirty="0"/>
              <a:t>.2</a:t>
            </a:r>
            <a:r>
              <a:rPr lang="en-GB" dirty="0"/>
              <a:t>4</a:t>
            </a:r>
            <a:r>
              <a:rPr lang="en-DE" spc="135" dirty="0"/>
              <a:t>  </a:t>
            </a:r>
            <a:r>
              <a:rPr lang="en-DE" dirty="0"/>
              <a:t>&lt;</a:t>
            </a:r>
            <a:r>
              <a:rPr lang="en-DE" spc="-5" dirty="0"/>
              <a:t> </a:t>
            </a:r>
            <a:fld id="{81D60167-4931-47E6-BA6A-407CBD079E47}" type="slidenum">
              <a:rPr smtClean="0"/>
              <a:pPr marL="12700">
                <a:spcBef>
                  <a:spcPts val="30"/>
                </a:spcBef>
              </a:pPr>
              <a:t>6</a:t>
            </a:fld>
            <a:r>
              <a:rPr spc="-15" dirty="0"/>
              <a:t> </a:t>
            </a:r>
            <a:r>
              <a:rPr spc="-50" dirty="0"/>
              <a:t>&gt;</a:t>
            </a:r>
          </a:p>
        </p:txBody>
      </p:sp>
      <p:sp>
        <p:nvSpPr>
          <p:cNvPr id="4" name="Google Shape;637;p34">
            <a:extLst>
              <a:ext uri="{FF2B5EF4-FFF2-40B4-BE49-F238E27FC236}">
                <a16:creationId xmlns:a16="http://schemas.microsoft.com/office/drawing/2014/main" id="{554BE9D7-9473-79BA-25D5-5394CFD647D3}"/>
              </a:ext>
            </a:extLst>
          </p:cNvPr>
          <p:cNvSpPr txBox="1"/>
          <p:nvPr/>
        </p:nvSpPr>
        <p:spPr>
          <a:xfrm>
            <a:off x="226484" y="914400"/>
            <a:ext cx="11127315" cy="4987066"/>
          </a:xfrm>
          <a:prstGeom prst="rect">
            <a:avLst/>
          </a:prstGeom>
          <a:noFill/>
          <a:ln>
            <a:noFill/>
          </a:ln>
        </p:spPr>
        <p:txBody>
          <a:bodyPr spcFirstLastPara="1" wrap="square" lIns="121900" tIns="121900" rIns="121900" bIns="121900" anchor="ctr" anchorCtr="0">
            <a:noAutofit/>
          </a:bodyPr>
          <a:lstStyle/>
          <a:p>
            <a:pPr algn="l" defTabSz="1219170" rtl="0">
              <a:lnSpc>
                <a:spcPct val="150000"/>
              </a:lnSpc>
              <a:buClr>
                <a:srgbClr val="000000"/>
              </a:buClr>
            </a:pPr>
            <a:r>
              <a:rPr lang="en-GB" sz="2200" dirty="0">
                <a:solidFill>
                  <a:schemeClr val="tx1"/>
                </a:solidFill>
                <a:latin typeface="Fira Code"/>
                <a:ea typeface="Fira Code"/>
                <a:cs typeface="Fira Code"/>
                <a:sym typeface="Fira Code"/>
              </a:rPr>
              <a:t>2. Play Steps</a:t>
            </a:r>
          </a:p>
          <a:p>
            <a:pPr algn="l" defTabSz="1219170" rtl="0">
              <a:lnSpc>
                <a:spcPct val="150000"/>
              </a:lnSpc>
              <a:buClr>
                <a:srgbClr val="000000"/>
              </a:buClr>
            </a:pPr>
            <a:r>
              <a:rPr lang="en-GB" sz="2200" dirty="0">
                <a:solidFill>
                  <a:schemeClr val="tx1"/>
                </a:solidFill>
                <a:latin typeface="Fira Code"/>
                <a:ea typeface="Fira Code"/>
                <a:cs typeface="Fira Code"/>
                <a:sym typeface="Fira Code"/>
              </a:rPr>
              <a:t> - </a:t>
            </a:r>
            <a:r>
              <a:rPr lang="en-GB" sz="2200" dirty="0">
                <a:solidFill>
                  <a:schemeClr val="tx1"/>
                </a:solidFill>
                <a:highlight>
                  <a:srgbClr val="C0C0C0"/>
                </a:highlight>
                <a:latin typeface="Fira Code"/>
                <a:ea typeface="Fira Code"/>
                <a:cs typeface="Fira Code"/>
                <a:sym typeface="Fira Code"/>
              </a:rPr>
              <a:t>Direction</a:t>
            </a:r>
          </a:p>
          <a:p>
            <a:pPr algn="l" defTabSz="1219170" rtl="0">
              <a:lnSpc>
                <a:spcPct val="150000"/>
              </a:lnSpc>
              <a:buClr>
                <a:srgbClr val="000000"/>
              </a:buClr>
            </a:pPr>
            <a:r>
              <a:rPr lang="en-GB" sz="2000" dirty="0">
                <a:solidFill>
                  <a:schemeClr val="tx1"/>
                </a:solidFill>
                <a:latin typeface="Fira Code"/>
                <a:ea typeface="Fira Code"/>
                <a:cs typeface="Fira Code"/>
                <a:sym typeface="Fira Code"/>
              </a:rPr>
              <a:t>    • Straight – [1, 0, 0]</a:t>
            </a:r>
          </a:p>
          <a:p>
            <a:pPr algn="l" defTabSz="1219170" rtl="0">
              <a:lnSpc>
                <a:spcPct val="150000"/>
              </a:lnSpc>
              <a:buClr>
                <a:srgbClr val="000000"/>
              </a:buClr>
            </a:pPr>
            <a:r>
              <a:rPr lang="en-GB" sz="2000" dirty="0">
                <a:solidFill>
                  <a:schemeClr val="tx1"/>
                </a:solidFill>
                <a:latin typeface="Fira Code"/>
                <a:ea typeface="Fira Code"/>
                <a:cs typeface="Fira Code"/>
                <a:sym typeface="Fira Code"/>
              </a:rPr>
              <a:t>    • Right turn – [0, 1, 0]</a:t>
            </a:r>
          </a:p>
          <a:p>
            <a:pPr algn="l" defTabSz="1219170" rtl="0">
              <a:lnSpc>
                <a:spcPct val="150000"/>
              </a:lnSpc>
              <a:buClr>
                <a:srgbClr val="000000"/>
              </a:buClr>
            </a:pPr>
            <a:r>
              <a:rPr lang="en-GB" sz="2000" dirty="0">
                <a:solidFill>
                  <a:schemeClr val="tx1"/>
                </a:solidFill>
                <a:latin typeface="Fira Code"/>
                <a:ea typeface="Fira Code"/>
                <a:cs typeface="Fira Code"/>
                <a:sym typeface="Fira Code"/>
              </a:rPr>
              <a:t>    • Left turn – [0, 0, 1]</a:t>
            </a:r>
          </a:p>
          <a:p>
            <a:pPr algn="l" defTabSz="1219170" rtl="0">
              <a:lnSpc>
                <a:spcPct val="150000"/>
              </a:lnSpc>
              <a:buClr>
                <a:srgbClr val="000000"/>
              </a:buClr>
            </a:pPr>
            <a:r>
              <a:rPr lang="en-GB" sz="2200" dirty="0">
                <a:solidFill>
                  <a:schemeClr val="tx1"/>
                </a:solidFill>
                <a:latin typeface="Fira Code"/>
                <a:ea typeface="Fira Code"/>
                <a:cs typeface="Fira Code"/>
                <a:sym typeface="Fira Code"/>
              </a:rPr>
              <a:t> - </a:t>
            </a:r>
            <a:r>
              <a:rPr lang="en-GB" sz="2200" dirty="0">
                <a:solidFill>
                  <a:schemeClr val="tx1"/>
                </a:solidFill>
                <a:highlight>
                  <a:srgbClr val="C0C0C0"/>
                </a:highlight>
                <a:latin typeface="Fira Code"/>
                <a:ea typeface="Fira Code"/>
                <a:cs typeface="Fira Code"/>
                <a:sym typeface="Fira Code"/>
              </a:rPr>
              <a:t>Movement</a:t>
            </a:r>
          </a:p>
          <a:p>
            <a:pPr algn="l" defTabSz="1219170" rtl="0">
              <a:lnSpc>
                <a:spcPct val="150000"/>
              </a:lnSpc>
              <a:buClr>
                <a:srgbClr val="000000"/>
              </a:buClr>
            </a:pPr>
            <a:r>
              <a:rPr lang="en-GB" sz="2000" dirty="0">
                <a:solidFill>
                  <a:schemeClr val="tx1"/>
                </a:solidFill>
                <a:latin typeface="Fira Code"/>
                <a:ea typeface="Fira Code"/>
                <a:cs typeface="Fira Code"/>
                <a:sym typeface="Fira Code"/>
              </a:rPr>
              <a:t>    • if direction == Direction.RIGHT: x += BLOCK SIZE</a:t>
            </a:r>
          </a:p>
          <a:p>
            <a:pPr algn="l" defTabSz="1219170" rtl="0">
              <a:lnSpc>
                <a:spcPct val="150000"/>
              </a:lnSpc>
              <a:buClr>
                <a:srgbClr val="000000"/>
              </a:buClr>
            </a:pPr>
            <a:r>
              <a:rPr lang="en-GB" sz="2000" dirty="0">
                <a:solidFill>
                  <a:schemeClr val="tx1"/>
                </a:solidFill>
                <a:latin typeface="Fira Code"/>
                <a:ea typeface="Fira Code"/>
                <a:cs typeface="Fira Code"/>
                <a:sym typeface="Fira Code"/>
              </a:rPr>
              <a:t>    • elif direction == Direction.DOWN: y += BLOCK SIZE</a:t>
            </a:r>
          </a:p>
          <a:p>
            <a:pPr algn="l" defTabSz="1219170" rtl="0">
              <a:lnSpc>
                <a:spcPct val="150000"/>
              </a:lnSpc>
              <a:buClr>
                <a:srgbClr val="000000"/>
              </a:buClr>
            </a:pPr>
            <a:r>
              <a:rPr lang="en-GB" sz="2200" dirty="0">
                <a:solidFill>
                  <a:schemeClr val="tx1"/>
                </a:solidFill>
                <a:latin typeface="Fira Code"/>
                <a:ea typeface="Fira Code"/>
                <a:cs typeface="Fira Code"/>
                <a:sym typeface="Fira Code"/>
              </a:rPr>
              <a:t> - </a:t>
            </a:r>
            <a:r>
              <a:rPr lang="en-GB" sz="2200" dirty="0">
                <a:solidFill>
                  <a:schemeClr val="tx1"/>
                </a:solidFill>
                <a:highlight>
                  <a:srgbClr val="C0C0C0"/>
                </a:highlight>
                <a:latin typeface="Fira Code"/>
                <a:ea typeface="Fira Code"/>
                <a:cs typeface="Fira Code"/>
                <a:sym typeface="Fira Code"/>
              </a:rPr>
              <a:t>Reward and Score</a:t>
            </a:r>
            <a:r>
              <a:rPr lang="en-GB" sz="2200" dirty="0">
                <a:solidFill>
                  <a:schemeClr val="tx1"/>
                </a:solidFill>
                <a:latin typeface="Fira Code"/>
                <a:ea typeface="Fira Code"/>
                <a:cs typeface="Fira Code"/>
                <a:sym typeface="Fira Code"/>
              </a:rPr>
              <a:t>: Reward = +10 and penalty = -10 </a:t>
            </a:r>
          </a:p>
          <a:p>
            <a:pPr algn="l" defTabSz="1219170" rtl="0">
              <a:lnSpc>
                <a:spcPct val="150000"/>
              </a:lnSpc>
              <a:buClr>
                <a:srgbClr val="000000"/>
              </a:buClr>
            </a:pPr>
            <a:r>
              <a:rPr lang="en-GB" sz="2200" dirty="0">
                <a:solidFill>
                  <a:schemeClr val="tx1"/>
                </a:solidFill>
                <a:latin typeface="Fira Code"/>
                <a:ea typeface="Fira Code"/>
                <a:cs typeface="Fira Code"/>
                <a:sym typeface="Fira Code"/>
              </a:rPr>
              <a:t> - </a:t>
            </a:r>
            <a:r>
              <a:rPr lang="en-GB" sz="2200" dirty="0">
                <a:solidFill>
                  <a:schemeClr val="tx1"/>
                </a:solidFill>
                <a:highlight>
                  <a:srgbClr val="C0C0C0"/>
                </a:highlight>
                <a:latin typeface="Fira Code"/>
                <a:ea typeface="Fira Code"/>
                <a:cs typeface="Fira Code"/>
                <a:sym typeface="Fira Code"/>
              </a:rPr>
              <a:t>Game Over</a:t>
            </a:r>
            <a:r>
              <a:rPr lang="en-GB" sz="2200" dirty="0">
                <a:solidFill>
                  <a:schemeClr val="tx1"/>
                </a:solidFill>
                <a:latin typeface="Fira Code"/>
                <a:ea typeface="Fira Code"/>
                <a:cs typeface="Fira Code"/>
                <a:sym typeface="Fira Code"/>
              </a:rPr>
              <a:t>: Collisions</a:t>
            </a:r>
          </a:p>
        </p:txBody>
      </p:sp>
    </p:spTree>
    <p:extLst>
      <p:ext uri="{BB962C8B-B14F-4D97-AF65-F5344CB8AC3E}">
        <p14:creationId xmlns:p14="http://schemas.microsoft.com/office/powerpoint/2010/main" val="1778191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C29E3-FB8A-319C-D527-D9185677563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E7D0565-7E04-3B83-0350-4DCF1AF6C4CC}"/>
              </a:ext>
            </a:extLst>
          </p:cNvPr>
          <p:cNvSpPr txBox="1">
            <a:spLocks noGrp="1"/>
          </p:cNvSpPr>
          <p:nvPr>
            <p:ph type="title"/>
          </p:nvPr>
        </p:nvSpPr>
        <p:spPr>
          <a:xfrm>
            <a:off x="1947751" y="173736"/>
            <a:ext cx="4576233" cy="505267"/>
          </a:xfrm>
          <a:prstGeom prst="rect">
            <a:avLst/>
          </a:prstGeom>
        </p:spPr>
        <p:txBody>
          <a:bodyPr vert="horz" wrap="square" lIns="0" tIns="12700" rIns="0" bIns="0" rtlCol="0">
            <a:spAutoFit/>
          </a:bodyPr>
          <a:lstStyle/>
          <a:p>
            <a:pPr marL="12700">
              <a:spcBef>
                <a:spcPts val="100"/>
              </a:spcBef>
            </a:pPr>
            <a:r>
              <a:rPr lang="en-GB" sz="3200" dirty="0"/>
              <a:t>IMPLEM. THE AGENT</a:t>
            </a:r>
            <a:endParaRPr spc="-25" dirty="0"/>
          </a:p>
        </p:txBody>
      </p:sp>
      <p:sp>
        <p:nvSpPr>
          <p:cNvPr id="7" name="Footer Placeholder 6">
            <a:extLst>
              <a:ext uri="{FF2B5EF4-FFF2-40B4-BE49-F238E27FC236}">
                <a16:creationId xmlns:a16="http://schemas.microsoft.com/office/drawing/2014/main" id="{AFA36804-5DCA-24B2-A605-818B4EAC1793}"/>
              </a:ext>
            </a:extLst>
          </p:cNvPr>
          <p:cNvSpPr>
            <a:spLocks noGrp="1"/>
          </p:cNvSpPr>
          <p:nvPr>
            <p:ph type="ftr" sz="quarter" idx="5"/>
          </p:nvPr>
        </p:nvSpPr>
        <p:spPr/>
        <p:txBody>
          <a:bodyPr/>
          <a:lstStyle/>
          <a:p>
            <a:pPr marL="12700">
              <a:spcBef>
                <a:spcPts val="5"/>
              </a:spcBef>
            </a:pPr>
            <a:r>
              <a:rPr lang="en-GB"/>
              <a:t>University of Applied Sciences Hamm-Lippstadt</a:t>
            </a:r>
            <a:endParaRPr lang="en-GB" spc="-10" dirty="0"/>
          </a:p>
        </p:txBody>
      </p:sp>
      <p:sp>
        <p:nvSpPr>
          <p:cNvPr id="10" name="Slide Number Placeholder 9">
            <a:extLst>
              <a:ext uri="{FF2B5EF4-FFF2-40B4-BE49-F238E27FC236}">
                <a16:creationId xmlns:a16="http://schemas.microsoft.com/office/drawing/2014/main" id="{F64D228B-9438-7EC5-BE3A-B3F18D5BF7DF}"/>
              </a:ext>
            </a:extLst>
          </p:cNvPr>
          <p:cNvSpPr>
            <a:spLocks noGrp="1"/>
          </p:cNvSpPr>
          <p:nvPr>
            <p:ph type="sldNum" sz="quarter" idx="7"/>
          </p:nvPr>
        </p:nvSpPr>
        <p:spPr/>
        <p:txBody>
          <a:bodyPr/>
          <a:lstStyle/>
          <a:p>
            <a:pPr marL="12700">
              <a:spcBef>
                <a:spcPts val="30"/>
              </a:spcBef>
            </a:pPr>
            <a:r>
              <a:rPr lang="en-DE" dirty="0"/>
              <a:t>0</a:t>
            </a:r>
            <a:r>
              <a:rPr lang="en-GB" dirty="0"/>
              <a:t>6</a:t>
            </a:r>
            <a:r>
              <a:rPr lang="en-DE" dirty="0"/>
              <a:t>.</a:t>
            </a:r>
            <a:r>
              <a:rPr lang="en-GB" dirty="0"/>
              <a:t>02</a:t>
            </a:r>
            <a:r>
              <a:rPr lang="en-DE" dirty="0"/>
              <a:t>.2</a:t>
            </a:r>
            <a:r>
              <a:rPr lang="en-GB" dirty="0"/>
              <a:t>4</a:t>
            </a:r>
            <a:r>
              <a:rPr lang="en-DE" spc="135" dirty="0"/>
              <a:t>  </a:t>
            </a:r>
            <a:r>
              <a:rPr lang="en-DE" dirty="0"/>
              <a:t>&lt;</a:t>
            </a:r>
            <a:r>
              <a:rPr lang="en-DE" spc="-5" dirty="0"/>
              <a:t> </a:t>
            </a:r>
            <a:fld id="{81D60167-4931-47E6-BA6A-407CBD079E47}" type="slidenum">
              <a:rPr smtClean="0"/>
              <a:pPr marL="12700">
                <a:spcBef>
                  <a:spcPts val="30"/>
                </a:spcBef>
              </a:pPr>
              <a:t>7</a:t>
            </a:fld>
            <a:r>
              <a:rPr spc="-15" dirty="0"/>
              <a:t> </a:t>
            </a:r>
            <a:r>
              <a:rPr spc="-50" dirty="0"/>
              <a:t>&gt;</a:t>
            </a:r>
          </a:p>
        </p:txBody>
      </p:sp>
      <p:sp>
        <p:nvSpPr>
          <p:cNvPr id="6" name="Google Shape;637;p34">
            <a:extLst>
              <a:ext uri="{FF2B5EF4-FFF2-40B4-BE49-F238E27FC236}">
                <a16:creationId xmlns:a16="http://schemas.microsoft.com/office/drawing/2014/main" id="{7ED7821E-1882-97B4-A33E-9DC13CE735C4}"/>
              </a:ext>
            </a:extLst>
          </p:cNvPr>
          <p:cNvSpPr txBox="1"/>
          <p:nvPr/>
        </p:nvSpPr>
        <p:spPr>
          <a:xfrm>
            <a:off x="226484" y="1371600"/>
            <a:ext cx="10685635" cy="4488473"/>
          </a:xfrm>
          <a:prstGeom prst="rect">
            <a:avLst/>
          </a:prstGeom>
          <a:noFill/>
          <a:ln>
            <a:noFill/>
          </a:ln>
        </p:spPr>
        <p:txBody>
          <a:bodyPr spcFirstLastPara="1" wrap="square" lIns="121900" tIns="121900" rIns="121900" bIns="121900" anchor="ctr" anchorCtr="0">
            <a:noAutofit/>
          </a:bodyPr>
          <a:lstStyle/>
          <a:p>
            <a:pPr defTabSz="1219170">
              <a:lnSpc>
                <a:spcPct val="150000"/>
              </a:lnSpc>
              <a:buClr>
                <a:srgbClr val="000000"/>
              </a:buClr>
            </a:pPr>
            <a:r>
              <a:rPr lang="en-GB" sz="2100" kern="0" dirty="0">
                <a:solidFill>
                  <a:schemeClr val="tx1"/>
                </a:solidFill>
                <a:latin typeface="Fira Code"/>
                <a:ea typeface="Fira Code"/>
                <a:cs typeface="Fira Code"/>
                <a:sym typeface="Fira Code"/>
              </a:rPr>
              <a:t>1. </a:t>
            </a:r>
            <a:r>
              <a:rPr lang="en-GB" sz="2100" kern="0" dirty="0">
                <a:solidFill>
                  <a:schemeClr val="tx1"/>
                </a:solidFill>
                <a:highlight>
                  <a:srgbClr val="C0C0C0"/>
                </a:highlight>
                <a:latin typeface="Fira Code"/>
                <a:ea typeface="Fira Code"/>
                <a:cs typeface="Fira Code"/>
                <a:sym typeface="Fira Code"/>
              </a:rPr>
              <a:t>Initials</a:t>
            </a:r>
          </a:p>
          <a:p>
            <a:pPr defTabSz="1219170">
              <a:lnSpc>
                <a:spcPct val="150000"/>
              </a:lnSpc>
              <a:buClr>
                <a:srgbClr val="000000"/>
              </a:buClr>
            </a:pPr>
            <a:r>
              <a:rPr lang="en-GB" sz="2100" kern="0" dirty="0">
                <a:solidFill>
                  <a:schemeClr val="tx1"/>
                </a:solidFill>
                <a:latin typeface="Fira Code"/>
                <a:ea typeface="Fira Code"/>
                <a:cs typeface="Fira Code"/>
                <a:sym typeface="Fira Code"/>
              </a:rPr>
              <a:t> - Max memory, Batch size, Learning rates, Epsilon, Discount rate</a:t>
            </a:r>
          </a:p>
          <a:p>
            <a:pPr defTabSz="1219170">
              <a:lnSpc>
                <a:spcPct val="150000"/>
              </a:lnSpc>
              <a:buClr>
                <a:srgbClr val="000000"/>
              </a:buClr>
            </a:pPr>
            <a:r>
              <a:rPr lang="en-GB" sz="2100" kern="0" dirty="0">
                <a:solidFill>
                  <a:schemeClr val="tx1"/>
                </a:solidFill>
                <a:latin typeface="Fira Code"/>
                <a:ea typeface="Fira Code"/>
                <a:cs typeface="Fira Code"/>
                <a:sym typeface="Fira Code"/>
              </a:rPr>
              <a:t>2. </a:t>
            </a:r>
            <a:r>
              <a:rPr lang="en-GB" sz="2100" kern="0" dirty="0">
                <a:solidFill>
                  <a:schemeClr val="tx1"/>
                </a:solidFill>
                <a:highlight>
                  <a:srgbClr val="C0C0C0"/>
                </a:highlight>
                <a:latin typeface="Fira Code"/>
                <a:ea typeface="Fira Code"/>
                <a:cs typeface="Fira Code"/>
                <a:sym typeface="Fira Code"/>
              </a:rPr>
              <a:t>Direction setup</a:t>
            </a:r>
          </a:p>
          <a:p>
            <a:pPr defTabSz="1219170">
              <a:lnSpc>
                <a:spcPct val="150000"/>
              </a:lnSpc>
              <a:buClr>
                <a:srgbClr val="000000"/>
              </a:buClr>
            </a:pPr>
            <a:r>
              <a:rPr lang="en-GB" sz="2100" kern="0" dirty="0">
                <a:solidFill>
                  <a:schemeClr val="tx1"/>
                </a:solidFill>
                <a:latin typeface="Fira Code"/>
                <a:ea typeface="Fira Code"/>
                <a:cs typeface="Fira Code"/>
                <a:sym typeface="Fira Code"/>
              </a:rPr>
              <a:t>  • Point right = Point (head.x + 20, head.y</a:t>
            </a:r>
            <a:r>
              <a:rPr lang="en-GB" sz="2100" dirty="0">
                <a:solidFill>
                  <a:schemeClr val="tx1"/>
                </a:solidFill>
                <a:latin typeface="Fira Code"/>
                <a:ea typeface="Fira Code"/>
                <a:cs typeface="Fira Code"/>
                <a:sym typeface="Fira Code"/>
              </a:rPr>
              <a:t>)</a:t>
            </a:r>
          </a:p>
          <a:p>
            <a:pPr defTabSz="1219170">
              <a:lnSpc>
                <a:spcPct val="150000"/>
              </a:lnSpc>
              <a:buClr>
                <a:srgbClr val="000000"/>
              </a:buClr>
            </a:pPr>
            <a:r>
              <a:rPr lang="en-GB" sz="2100" kern="0" dirty="0">
                <a:solidFill>
                  <a:schemeClr val="tx1"/>
                </a:solidFill>
                <a:latin typeface="Fira Code"/>
                <a:ea typeface="Fira Code"/>
                <a:cs typeface="Fira Code"/>
                <a:sym typeface="Fira Code"/>
              </a:rPr>
              <a:t>  • Point Left  = Point (head.x - 20, head.y</a:t>
            </a:r>
            <a:r>
              <a:rPr lang="en-GB" sz="2100" dirty="0">
                <a:solidFill>
                  <a:schemeClr val="tx1"/>
                </a:solidFill>
                <a:latin typeface="Fira Code"/>
                <a:ea typeface="Fira Code"/>
                <a:cs typeface="Fira Code"/>
                <a:sym typeface="Fira Code"/>
              </a:rPr>
              <a:t>)</a:t>
            </a:r>
          </a:p>
          <a:p>
            <a:pPr defTabSz="1219170">
              <a:lnSpc>
                <a:spcPct val="150000"/>
              </a:lnSpc>
              <a:buClr>
                <a:srgbClr val="000000"/>
              </a:buClr>
            </a:pPr>
            <a:r>
              <a:rPr lang="en-GB" sz="2100" kern="0" dirty="0">
                <a:solidFill>
                  <a:schemeClr val="tx1"/>
                </a:solidFill>
                <a:latin typeface="Fira Code"/>
                <a:ea typeface="Fira Code"/>
                <a:cs typeface="Fira Code"/>
                <a:sym typeface="Fira Code"/>
              </a:rPr>
              <a:t>    Similarly, for Up (y</a:t>
            </a:r>
            <a:r>
              <a:rPr lang="en-GB" sz="2100" dirty="0">
                <a:solidFill>
                  <a:schemeClr val="tx1"/>
                </a:solidFill>
                <a:latin typeface="Fira Code"/>
                <a:ea typeface="Fira Code"/>
                <a:cs typeface="Fira Code"/>
                <a:sym typeface="Fira Code"/>
              </a:rPr>
              <a:t> + 20) and Down (y – 20)</a:t>
            </a:r>
          </a:p>
          <a:p>
            <a:pPr defTabSz="1219170">
              <a:lnSpc>
                <a:spcPct val="150000"/>
              </a:lnSpc>
              <a:buClr>
                <a:srgbClr val="000000"/>
              </a:buClr>
            </a:pPr>
            <a:endParaRPr lang="en-GB" sz="2100" kern="0" dirty="0">
              <a:solidFill>
                <a:schemeClr val="tx1"/>
              </a:solidFill>
              <a:latin typeface="Fira Code"/>
              <a:ea typeface="Fira Code"/>
              <a:cs typeface="Fira Code"/>
              <a:sym typeface="Fira Code"/>
            </a:endParaRPr>
          </a:p>
          <a:p>
            <a:pPr defTabSz="1219170">
              <a:lnSpc>
                <a:spcPct val="150000"/>
              </a:lnSpc>
              <a:buClr>
                <a:srgbClr val="000000"/>
              </a:buClr>
            </a:pPr>
            <a:r>
              <a:rPr lang="en-GB" sz="2100" kern="0" dirty="0">
                <a:solidFill>
                  <a:schemeClr val="tx1"/>
                </a:solidFill>
                <a:latin typeface="Fira Code"/>
                <a:ea typeface="Fira Code"/>
                <a:cs typeface="Fira Code"/>
                <a:sym typeface="Fira Code"/>
              </a:rPr>
              <a:t>3. </a:t>
            </a:r>
            <a:r>
              <a:rPr lang="en-GB" sz="2100" kern="0" dirty="0">
                <a:solidFill>
                  <a:schemeClr val="tx1"/>
                </a:solidFill>
                <a:highlight>
                  <a:srgbClr val="C0C0C0"/>
                </a:highlight>
                <a:latin typeface="Fira Code"/>
                <a:ea typeface="Fira Code"/>
                <a:cs typeface="Fira Code"/>
                <a:sym typeface="Fira Code"/>
              </a:rPr>
              <a:t>Get States: 11 States</a:t>
            </a:r>
          </a:p>
          <a:p>
            <a:pPr defTabSz="1219170">
              <a:lnSpc>
                <a:spcPct val="150000"/>
              </a:lnSpc>
              <a:buClr>
                <a:srgbClr val="000000"/>
              </a:buClr>
            </a:pPr>
            <a:r>
              <a:rPr lang="en-GB" sz="2100" kern="0" dirty="0">
                <a:solidFill>
                  <a:schemeClr val="tx1"/>
                </a:solidFill>
                <a:latin typeface="Fira Code"/>
                <a:ea typeface="Fira Code"/>
                <a:cs typeface="Fira Code"/>
                <a:sym typeface="Fira Code"/>
              </a:rPr>
              <a:t>  • Move direction states = [ left, right, up, down ]</a:t>
            </a:r>
          </a:p>
          <a:p>
            <a:pPr defTabSz="1219170">
              <a:lnSpc>
                <a:spcPct val="150000"/>
              </a:lnSpc>
              <a:buClr>
                <a:srgbClr val="000000"/>
              </a:buClr>
            </a:pPr>
            <a:r>
              <a:rPr lang="en-GB" sz="2100" kern="0" dirty="0">
                <a:solidFill>
                  <a:schemeClr val="tx1"/>
                </a:solidFill>
                <a:latin typeface="Fira Code"/>
                <a:ea typeface="Fira Code"/>
                <a:cs typeface="Fira Code"/>
                <a:sym typeface="Fira Code"/>
              </a:rPr>
              <a:t>  • Danger zones = [ danger straight, danger right, danger left ]</a:t>
            </a:r>
          </a:p>
          <a:p>
            <a:pPr defTabSz="1219170">
              <a:lnSpc>
                <a:spcPct val="150000"/>
              </a:lnSpc>
              <a:buClr>
                <a:srgbClr val="000000"/>
              </a:buClr>
            </a:pPr>
            <a:r>
              <a:rPr lang="en-GB" sz="2100" kern="0" dirty="0">
                <a:solidFill>
                  <a:schemeClr val="tx1"/>
                </a:solidFill>
                <a:latin typeface="Fira Code"/>
                <a:ea typeface="Fira Code"/>
                <a:cs typeface="Fira Code"/>
                <a:sym typeface="Fira Code"/>
              </a:rPr>
              <a:t>  • Food direction = [ left, right, up down ]</a:t>
            </a:r>
          </a:p>
        </p:txBody>
      </p:sp>
    </p:spTree>
    <p:extLst>
      <p:ext uri="{BB962C8B-B14F-4D97-AF65-F5344CB8AC3E}">
        <p14:creationId xmlns:p14="http://schemas.microsoft.com/office/powerpoint/2010/main" val="3080325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BFD43-6162-7C21-6186-84CBA0F1B72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69189EE-13B8-0690-EA70-3EB2D781DD33}"/>
              </a:ext>
            </a:extLst>
          </p:cNvPr>
          <p:cNvSpPr txBox="1">
            <a:spLocks noGrp="1"/>
          </p:cNvSpPr>
          <p:nvPr>
            <p:ph type="title"/>
          </p:nvPr>
        </p:nvSpPr>
        <p:spPr>
          <a:xfrm>
            <a:off x="1947751" y="173736"/>
            <a:ext cx="4576233" cy="505267"/>
          </a:xfrm>
          <a:prstGeom prst="rect">
            <a:avLst/>
          </a:prstGeom>
        </p:spPr>
        <p:txBody>
          <a:bodyPr vert="horz" wrap="square" lIns="0" tIns="12700" rIns="0" bIns="0" rtlCol="0">
            <a:spAutoFit/>
          </a:bodyPr>
          <a:lstStyle/>
          <a:p>
            <a:pPr marL="12700">
              <a:spcBef>
                <a:spcPts val="100"/>
              </a:spcBef>
            </a:pPr>
            <a:r>
              <a:rPr lang="en-GB" sz="3200" dirty="0"/>
              <a:t>IMPLEM. THE AGENT</a:t>
            </a:r>
            <a:endParaRPr spc="-25" dirty="0"/>
          </a:p>
        </p:txBody>
      </p:sp>
      <p:sp>
        <p:nvSpPr>
          <p:cNvPr id="7" name="Footer Placeholder 6">
            <a:extLst>
              <a:ext uri="{FF2B5EF4-FFF2-40B4-BE49-F238E27FC236}">
                <a16:creationId xmlns:a16="http://schemas.microsoft.com/office/drawing/2014/main" id="{7F393717-F312-8560-75BB-9C2AD59F5557}"/>
              </a:ext>
            </a:extLst>
          </p:cNvPr>
          <p:cNvSpPr>
            <a:spLocks noGrp="1"/>
          </p:cNvSpPr>
          <p:nvPr>
            <p:ph type="ftr" sz="quarter" idx="5"/>
          </p:nvPr>
        </p:nvSpPr>
        <p:spPr/>
        <p:txBody>
          <a:bodyPr/>
          <a:lstStyle/>
          <a:p>
            <a:pPr marL="12700">
              <a:spcBef>
                <a:spcPts val="5"/>
              </a:spcBef>
            </a:pPr>
            <a:r>
              <a:rPr lang="en-GB"/>
              <a:t>University of Applied Sciences Hamm-Lippstadt</a:t>
            </a:r>
            <a:endParaRPr lang="en-GB" spc="-10" dirty="0"/>
          </a:p>
        </p:txBody>
      </p:sp>
      <p:sp>
        <p:nvSpPr>
          <p:cNvPr id="10" name="Slide Number Placeholder 9">
            <a:extLst>
              <a:ext uri="{FF2B5EF4-FFF2-40B4-BE49-F238E27FC236}">
                <a16:creationId xmlns:a16="http://schemas.microsoft.com/office/drawing/2014/main" id="{14BD1981-873D-C7C3-2C44-7C7EABE5BA0D}"/>
              </a:ext>
            </a:extLst>
          </p:cNvPr>
          <p:cNvSpPr>
            <a:spLocks noGrp="1"/>
          </p:cNvSpPr>
          <p:nvPr>
            <p:ph type="sldNum" sz="quarter" idx="7"/>
          </p:nvPr>
        </p:nvSpPr>
        <p:spPr/>
        <p:txBody>
          <a:bodyPr/>
          <a:lstStyle/>
          <a:p>
            <a:pPr marL="12700">
              <a:spcBef>
                <a:spcPts val="30"/>
              </a:spcBef>
            </a:pPr>
            <a:r>
              <a:rPr lang="en-DE" dirty="0"/>
              <a:t>0</a:t>
            </a:r>
            <a:r>
              <a:rPr lang="en-GB" dirty="0"/>
              <a:t>6</a:t>
            </a:r>
            <a:r>
              <a:rPr lang="en-DE" dirty="0"/>
              <a:t>.</a:t>
            </a:r>
            <a:r>
              <a:rPr lang="en-GB" dirty="0"/>
              <a:t>02</a:t>
            </a:r>
            <a:r>
              <a:rPr lang="en-DE" dirty="0"/>
              <a:t>.2</a:t>
            </a:r>
            <a:r>
              <a:rPr lang="en-GB" dirty="0"/>
              <a:t>4</a:t>
            </a:r>
            <a:r>
              <a:rPr lang="en-DE" spc="135" dirty="0"/>
              <a:t>  </a:t>
            </a:r>
            <a:r>
              <a:rPr lang="en-DE" dirty="0"/>
              <a:t>&lt;</a:t>
            </a:r>
            <a:r>
              <a:rPr lang="en-DE" spc="-5" dirty="0"/>
              <a:t> </a:t>
            </a:r>
            <a:fld id="{81D60167-4931-47E6-BA6A-407CBD079E47}" type="slidenum">
              <a:rPr smtClean="0"/>
              <a:pPr marL="12700">
                <a:spcBef>
                  <a:spcPts val="30"/>
                </a:spcBef>
              </a:pPr>
              <a:t>8</a:t>
            </a:fld>
            <a:r>
              <a:rPr spc="-15" dirty="0"/>
              <a:t> </a:t>
            </a:r>
            <a:r>
              <a:rPr spc="-50" dirty="0"/>
              <a:t>&gt;</a:t>
            </a:r>
          </a:p>
        </p:txBody>
      </p:sp>
      <p:sp>
        <p:nvSpPr>
          <p:cNvPr id="3" name="Google Shape;637;p34">
            <a:extLst>
              <a:ext uri="{FF2B5EF4-FFF2-40B4-BE49-F238E27FC236}">
                <a16:creationId xmlns:a16="http://schemas.microsoft.com/office/drawing/2014/main" id="{C5F63E58-0CC8-9DE0-D51C-8011DC6510DE}"/>
              </a:ext>
            </a:extLst>
          </p:cNvPr>
          <p:cNvSpPr txBox="1"/>
          <p:nvPr/>
        </p:nvSpPr>
        <p:spPr>
          <a:xfrm>
            <a:off x="151138" y="1052064"/>
            <a:ext cx="2352563" cy="398716"/>
          </a:xfrm>
          <a:prstGeom prst="rect">
            <a:avLst/>
          </a:prstGeom>
          <a:noFill/>
          <a:ln>
            <a:noFill/>
          </a:ln>
        </p:spPr>
        <p:txBody>
          <a:bodyPr spcFirstLastPara="1" wrap="square" lIns="121900" tIns="121900" rIns="121900" bIns="121900" anchor="ctr" anchorCtr="0">
            <a:noAutofit/>
          </a:bodyPr>
          <a:lstStyle/>
          <a:p>
            <a:pPr defTabSz="1219170">
              <a:lnSpc>
                <a:spcPct val="150000"/>
              </a:lnSpc>
              <a:buClr>
                <a:srgbClr val="000000"/>
              </a:buClr>
            </a:pPr>
            <a:r>
              <a:rPr lang="en-GB" sz="2300" kern="0" dirty="0">
                <a:solidFill>
                  <a:schemeClr val="tx1"/>
                </a:solidFill>
                <a:latin typeface="Fira Code"/>
                <a:ea typeface="Fira Code"/>
                <a:cs typeface="Fira Code"/>
                <a:sym typeface="Fira Code"/>
              </a:rPr>
              <a:t>4. </a:t>
            </a:r>
            <a:r>
              <a:rPr lang="en-GB" sz="2300" kern="0" dirty="0">
                <a:solidFill>
                  <a:schemeClr val="tx1"/>
                </a:solidFill>
                <a:highlight>
                  <a:srgbClr val="C0C0C0"/>
                </a:highlight>
                <a:latin typeface="Fira Code"/>
                <a:ea typeface="Fira Code"/>
                <a:cs typeface="Fira Code"/>
                <a:sym typeface="Fira Code"/>
              </a:rPr>
              <a:t>Scenarios</a:t>
            </a:r>
          </a:p>
        </p:txBody>
      </p:sp>
      <p:pic>
        <p:nvPicPr>
          <p:cNvPr id="4" name="Picture 3" descr="A screen shot of a computer&#10;&#10;Description automatically generated">
            <a:extLst>
              <a:ext uri="{FF2B5EF4-FFF2-40B4-BE49-F238E27FC236}">
                <a16:creationId xmlns:a16="http://schemas.microsoft.com/office/drawing/2014/main" id="{59E248A3-0E16-8CD8-9BA5-AD6FE0D76B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8257" y="4008510"/>
            <a:ext cx="3378240" cy="2544303"/>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48E0A75D-E4B6-9133-962D-877CA44038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10943" y="4008510"/>
            <a:ext cx="3378239" cy="2548148"/>
          </a:xfrm>
          <a:prstGeom prst="rect">
            <a:avLst/>
          </a:prstGeom>
        </p:spPr>
      </p:pic>
      <p:sp>
        <p:nvSpPr>
          <p:cNvPr id="8" name="TextBox 7">
            <a:extLst>
              <a:ext uri="{FF2B5EF4-FFF2-40B4-BE49-F238E27FC236}">
                <a16:creationId xmlns:a16="http://schemas.microsoft.com/office/drawing/2014/main" id="{B5B191E9-C6FE-8FA1-EDB1-D72EFCCB7A7B}"/>
              </a:ext>
            </a:extLst>
          </p:cNvPr>
          <p:cNvSpPr txBox="1"/>
          <p:nvPr/>
        </p:nvSpPr>
        <p:spPr>
          <a:xfrm>
            <a:off x="306590" y="4724400"/>
            <a:ext cx="2041660" cy="1302921"/>
          </a:xfrm>
          <a:prstGeom prst="rect">
            <a:avLst/>
          </a:prstGeom>
          <a:noFill/>
        </p:spPr>
        <p:txBody>
          <a:bodyPr wrap="square">
            <a:spAutoFit/>
          </a:bodyPr>
          <a:lstStyle/>
          <a:p>
            <a:pPr algn="ctr" defTabSz="1219170">
              <a:lnSpc>
                <a:spcPct val="150000"/>
              </a:lnSpc>
              <a:buClr>
                <a:srgbClr val="000000"/>
              </a:buClr>
            </a:pPr>
            <a:r>
              <a:rPr lang="en-GB" sz="1800" kern="0" dirty="0">
                <a:solidFill>
                  <a:schemeClr val="tx1"/>
                </a:solidFill>
                <a:latin typeface="Fira Code"/>
                <a:ea typeface="Fira Code"/>
                <a:cs typeface="Fira Code"/>
                <a:sym typeface="Fira Code"/>
              </a:rPr>
              <a:t>[0, 0, 0]</a:t>
            </a:r>
          </a:p>
          <a:p>
            <a:pPr algn="ctr" defTabSz="1219170">
              <a:lnSpc>
                <a:spcPct val="150000"/>
              </a:lnSpc>
              <a:buClr>
                <a:srgbClr val="000000"/>
              </a:buClr>
            </a:pPr>
            <a:r>
              <a:rPr lang="en-GB" sz="1800" kern="0" dirty="0">
                <a:solidFill>
                  <a:schemeClr val="tx1"/>
                </a:solidFill>
                <a:latin typeface="Fira Code"/>
                <a:ea typeface="Fira Code"/>
                <a:cs typeface="Fira Code"/>
                <a:sym typeface="Fira Code"/>
              </a:rPr>
              <a:t>[ 0, 1, 0, 0]</a:t>
            </a:r>
          </a:p>
          <a:p>
            <a:pPr algn="ctr" defTabSz="1219170">
              <a:lnSpc>
                <a:spcPct val="150000"/>
              </a:lnSpc>
              <a:buClr>
                <a:srgbClr val="000000"/>
              </a:buClr>
            </a:pPr>
            <a:r>
              <a:rPr lang="en-GB" sz="1800" kern="0" dirty="0">
                <a:solidFill>
                  <a:schemeClr val="tx1"/>
                </a:solidFill>
                <a:latin typeface="Fira Code"/>
                <a:ea typeface="Fira Code"/>
                <a:cs typeface="Fira Code"/>
                <a:sym typeface="Fira Code"/>
              </a:rPr>
              <a:t>[ 0, 1, 0, 0]</a:t>
            </a:r>
          </a:p>
        </p:txBody>
      </p:sp>
      <p:sp>
        <p:nvSpPr>
          <p:cNvPr id="9" name="TextBox 8">
            <a:extLst>
              <a:ext uri="{FF2B5EF4-FFF2-40B4-BE49-F238E27FC236}">
                <a16:creationId xmlns:a16="http://schemas.microsoft.com/office/drawing/2014/main" id="{E6688430-C395-DAB8-13D7-456CF0988CE1}"/>
              </a:ext>
            </a:extLst>
          </p:cNvPr>
          <p:cNvSpPr txBox="1"/>
          <p:nvPr/>
        </p:nvSpPr>
        <p:spPr>
          <a:xfrm>
            <a:off x="6532890" y="4724400"/>
            <a:ext cx="2041660" cy="1302921"/>
          </a:xfrm>
          <a:prstGeom prst="rect">
            <a:avLst/>
          </a:prstGeom>
          <a:noFill/>
        </p:spPr>
        <p:txBody>
          <a:bodyPr wrap="square">
            <a:spAutoFit/>
          </a:bodyPr>
          <a:lstStyle/>
          <a:p>
            <a:pPr algn="ctr" defTabSz="1219170">
              <a:lnSpc>
                <a:spcPct val="150000"/>
              </a:lnSpc>
              <a:buClr>
                <a:srgbClr val="000000"/>
              </a:buClr>
            </a:pPr>
            <a:r>
              <a:rPr lang="en-GB" sz="1800" kern="0" dirty="0">
                <a:solidFill>
                  <a:schemeClr val="tx1"/>
                </a:solidFill>
                <a:latin typeface="Fira Code"/>
                <a:ea typeface="Fira Code"/>
                <a:cs typeface="Fira Code"/>
                <a:sym typeface="Fira Code"/>
              </a:rPr>
              <a:t>[1, 0, 0]</a:t>
            </a:r>
          </a:p>
          <a:p>
            <a:pPr algn="ctr" defTabSz="1219170">
              <a:lnSpc>
                <a:spcPct val="150000"/>
              </a:lnSpc>
              <a:buClr>
                <a:srgbClr val="000000"/>
              </a:buClr>
            </a:pPr>
            <a:r>
              <a:rPr lang="en-GB" sz="1800" kern="0" dirty="0">
                <a:solidFill>
                  <a:schemeClr val="tx1"/>
                </a:solidFill>
                <a:latin typeface="Fira Code"/>
                <a:ea typeface="Fira Code"/>
                <a:cs typeface="Fira Code"/>
                <a:sym typeface="Fira Code"/>
              </a:rPr>
              <a:t>[ 0, 1, 0, 1]</a:t>
            </a:r>
          </a:p>
          <a:p>
            <a:pPr algn="ctr" defTabSz="1219170">
              <a:lnSpc>
                <a:spcPct val="150000"/>
              </a:lnSpc>
              <a:buClr>
                <a:srgbClr val="000000"/>
              </a:buClr>
            </a:pPr>
            <a:r>
              <a:rPr lang="en-GB" sz="1800" kern="0" dirty="0">
                <a:solidFill>
                  <a:schemeClr val="tx1"/>
                </a:solidFill>
                <a:latin typeface="Fira Code"/>
                <a:ea typeface="Fira Code"/>
                <a:cs typeface="Fira Code"/>
                <a:sym typeface="Fira Code"/>
              </a:rPr>
              <a:t>[ 0, 1, 0, 1]</a:t>
            </a:r>
          </a:p>
        </p:txBody>
      </p:sp>
      <p:graphicFrame>
        <p:nvGraphicFramePr>
          <p:cNvPr id="13" name="Table 12">
            <a:extLst>
              <a:ext uri="{FF2B5EF4-FFF2-40B4-BE49-F238E27FC236}">
                <a16:creationId xmlns:a16="http://schemas.microsoft.com/office/drawing/2014/main" id="{646F1D5C-F0D6-5D3B-D994-2F4C28BD73DF}"/>
              </a:ext>
            </a:extLst>
          </p:cNvPr>
          <p:cNvGraphicFramePr>
            <a:graphicFrameLocks noGrp="1"/>
          </p:cNvGraphicFramePr>
          <p:nvPr>
            <p:extLst>
              <p:ext uri="{D42A27DB-BD31-4B8C-83A1-F6EECF244321}">
                <p14:modId xmlns:p14="http://schemas.microsoft.com/office/powerpoint/2010/main" val="3135188721"/>
              </p:ext>
            </p:extLst>
          </p:nvPr>
        </p:nvGraphicFramePr>
        <p:xfrm>
          <a:off x="2458257" y="1108364"/>
          <a:ext cx="9641142" cy="2621280"/>
        </p:xfrm>
        <a:graphic>
          <a:graphicData uri="http://schemas.openxmlformats.org/drawingml/2006/table">
            <a:tbl>
              <a:tblPr firstRow="1" bandRow="1">
                <a:tableStyleId>{5C22544A-7EE6-4342-B048-85BDC9FD1C3A}</a:tableStyleId>
              </a:tblPr>
              <a:tblGrid>
                <a:gridCol w="3213714">
                  <a:extLst>
                    <a:ext uri="{9D8B030D-6E8A-4147-A177-3AD203B41FA5}">
                      <a16:colId xmlns:a16="http://schemas.microsoft.com/office/drawing/2014/main" val="1805570368"/>
                    </a:ext>
                  </a:extLst>
                </a:gridCol>
                <a:gridCol w="3213714">
                  <a:extLst>
                    <a:ext uri="{9D8B030D-6E8A-4147-A177-3AD203B41FA5}">
                      <a16:colId xmlns:a16="http://schemas.microsoft.com/office/drawing/2014/main" val="2871837939"/>
                    </a:ext>
                  </a:extLst>
                </a:gridCol>
                <a:gridCol w="3213714">
                  <a:extLst>
                    <a:ext uri="{9D8B030D-6E8A-4147-A177-3AD203B41FA5}">
                      <a16:colId xmlns:a16="http://schemas.microsoft.com/office/drawing/2014/main" val="1615181389"/>
                    </a:ext>
                  </a:extLst>
                </a:gridCol>
              </a:tblGrid>
              <a:tr h="984634">
                <a:tc>
                  <a:txBody>
                    <a:bodyPr/>
                    <a:lstStyle/>
                    <a:p>
                      <a:r>
                        <a:rPr lang="en-GB" sz="2200" b="0" kern="0" dirty="0">
                          <a:solidFill>
                            <a:schemeClr val="tx1"/>
                          </a:solidFill>
                          <a:latin typeface="Fira Code"/>
                          <a:ea typeface="Fira Code"/>
                          <a:cs typeface="Fira Code"/>
                          <a:sym typeface="Fira Code"/>
                        </a:rPr>
                        <a:t>Danger zones </a:t>
                      </a:r>
                      <a:endParaRPr lang="LID4096" sz="2200" b="0" dirty="0"/>
                    </a:p>
                  </a:txBody>
                  <a:tcPr>
                    <a:solidFill>
                      <a:schemeClr val="accent4">
                        <a:lumMod val="40000"/>
                        <a:lumOff val="60000"/>
                      </a:schemeClr>
                    </a:solidFill>
                  </a:tcPr>
                </a:tc>
                <a:tc>
                  <a:txBody>
                    <a:bodyPr/>
                    <a:lstStyle/>
                    <a:p>
                      <a:r>
                        <a:rPr lang="en-GB" sz="2200" b="0" kern="0" dirty="0">
                          <a:solidFill>
                            <a:schemeClr val="tx1"/>
                          </a:solidFill>
                          <a:latin typeface="Fira Code"/>
                          <a:ea typeface="Fira Code"/>
                          <a:cs typeface="Fira Code"/>
                          <a:sym typeface="Fira Code"/>
                        </a:rPr>
                        <a:t>dan_straight, dan_right, dan_left</a:t>
                      </a:r>
                      <a:endParaRPr lang="LID4096" sz="2200" b="0" dirty="0"/>
                    </a:p>
                  </a:txBody>
                  <a:tcPr>
                    <a:solidFill>
                      <a:schemeClr val="accent4">
                        <a:lumMod val="60000"/>
                        <a:lumOff val="40000"/>
                      </a:schemeClr>
                    </a:solidFill>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GB" sz="2200" b="0" kern="0" dirty="0">
                          <a:solidFill>
                            <a:schemeClr val="tx1"/>
                          </a:solidFill>
                          <a:latin typeface="Fira Code"/>
                          <a:ea typeface="Fira Code"/>
                          <a:cs typeface="Fira Code"/>
                          <a:sym typeface="Fira Code"/>
                        </a:rPr>
                        <a:t>[0, 0, 0]</a:t>
                      </a:r>
                    </a:p>
                  </a:txBody>
                  <a:tcPr>
                    <a:solidFill>
                      <a:schemeClr val="accent4">
                        <a:lumMod val="75000"/>
                      </a:schemeClr>
                    </a:solidFill>
                  </a:tcPr>
                </a:tc>
                <a:extLst>
                  <a:ext uri="{0D108BD9-81ED-4DB2-BD59-A6C34878D82A}">
                    <a16:rowId xmlns:a16="http://schemas.microsoft.com/office/drawing/2014/main" val="1331827887"/>
                  </a:ext>
                </a:extLst>
              </a:tr>
              <a:tr h="682680">
                <a:tc>
                  <a:txBody>
                    <a:bodyPr/>
                    <a:lstStyle/>
                    <a:p>
                      <a:r>
                        <a:rPr lang="en-GB" sz="2200" kern="0" dirty="0">
                          <a:solidFill>
                            <a:schemeClr val="tx1"/>
                          </a:solidFill>
                          <a:latin typeface="Fira Code"/>
                          <a:ea typeface="Fira Code"/>
                          <a:cs typeface="Fira Code"/>
                          <a:sym typeface="Fira Code"/>
                        </a:rPr>
                        <a:t>Direction states </a:t>
                      </a:r>
                      <a:endParaRPr lang="LID4096" sz="2200" dirty="0"/>
                    </a:p>
                  </a:txBody>
                  <a:tcPr/>
                </a:tc>
                <a:tc>
                  <a:txBody>
                    <a:bodyPr/>
                    <a:lstStyle/>
                    <a:p>
                      <a:r>
                        <a:rPr lang="en-GB" sz="2200" kern="0" dirty="0">
                          <a:solidFill>
                            <a:schemeClr val="tx1"/>
                          </a:solidFill>
                          <a:latin typeface="Fira Code"/>
                          <a:ea typeface="Fira Code"/>
                          <a:cs typeface="Fira Code"/>
                          <a:sym typeface="Fira Code"/>
                        </a:rPr>
                        <a:t>left, right, up, down </a:t>
                      </a:r>
                      <a:endParaRPr lang="LID4096" sz="2200"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GB" sz="2200" kern="0" dirty="0">
                          <a:solidFill>
                            <a:schemeClr val="tx1"/>
                          </a:solidFill>
                          <a:latin typeface="Fira Code"/>
                          <a:ea typeface="Fira Code"/>
                          <a:cs typeface="Fira Code"/>
                          <a:sym typeface="Fira Code"/>
                        </a:rPr>
                        <a:t>[ 0, 0, 0, 0]</a:t>
                      </a:r>
                    </a:p>
                  </a:txBody>
                  <a:tcPr/>
                </a:tc>
                <a:extLst>
                  <a:ext uri="{0D108BD9-81ED-4DB2-BD59-A6C34878D82A}">
                    <a16:rowId xmlns:a16="http://schemas.microsoft.com/office/drawing/2014/main" val="1071676878"/>
                  </a:ext>
                </a:extLst>
              </a:tr>
              <a:tr h="682680">
                <a:tc>
                  <a:txBody>
                    <a:bodyPr/>
                    <a:lstStyle/>
                    <a:p>
                      <a:r>
                        <a:rPr lang="en-GB" sz="2200" kern="0" dirty="0">
                          <a:solidFill>
                            <a:schemeClr val="tx1"/>
                          </a:solidFill>
                          <a:latin typeface="Fira Code"/>
                          <a:ea typeface="Fira Code"/>
                          <a:cs typeface="Fira Code"/>
                          <a:sym typeface="Fira Code"/>
                        </a:rPr>
                        <a:t>Food direction </a:t>
                      </a:r>
                      <a:endParaRPr lang="LID4096" sz="2200" dirty="0"/>
                    </a:p>
                  </a:txBody>
                  <a:tcPr/>
                </a:tc>
                <a:tc>
                  <a:txBody>
                    <a:bodyPr/>
                    <a:lstStyle/>
                    <a:p>
                      <a:r>
                        <a:rPr lang="en-GB" sz="2200" kern="0" dirty="0">
                          <a:solidFill>
                            <a:schemeClr val="tx1"/>
                          </a:solidFill>
                          <a:latin typeface="Fira Code"/>
                          <a:ea typeface="Fira Code"/>
                          <a:cs typeface="Fira Code"/>
                          <a:sym typeface="Fira Code"/>
                        </a:rPr>
                        <a:t>left, right, up, down </a:t>
                      </a:r>
                      <a:endParaRPr lang="LID4096" sz="2200" dirty="0"/>
                    </a:p>
                  </a:txBody>
                  <a:tcPr/>
                </a:tc>
                <a:tc>
                  <a:txBody>
                    <a:bodyPr/>
                    <a:lstStyle/>
                    <a:p>
                      <a:r>
                        <a:rPr lang="en-GB" sz="2200" kern="0" dirty="0">
                          <a:solidFill>
                            <a:schemeClr val="tx1"/>
                          </a:solidFill>
                          <a:latin typeface="Fira Code"/>
                          <a:ea typeface="Fira Code"/>
                          <a:cs typeface="Fira Code"/>
                          <a:sym typeface="Fira Code"/>
                        </a:rPr>
                        <a:t>[ 0, 0, 0, 0]</a:t>
                      </a:r>
                      <a:endParaRPr lang="LID4096" sz="2200" dirty="0"/>
                    </a:p>
                  </a:txBody>
                  <a:tcPr/>
                </a:tc>
                <a:extLst>
                  <a:ext uri="{0D108BD9-81ED-4DB2-BD59-A6C34878D82A}">
                    <a16:rowId xmlns:a16="http://schemas.microsoft.com/office/drawing/2014/main" val="1875971615"/>
                  </a:ext>
                </a:extLst>
              </a:tr>
            </a:tbl>
          </a:graphicData>
        </a:graphic>
      </p:graphicFrame>
    </p:spTree>
    <p:extLst>
      <p:ext uri="{BB962C8B-B14F-4D97-AF65-F5344CB8AC3E}">
        <p14:creationId xmlns:p14="http://schemas.microsoft.com/office/powerpoint/2010/main" val="2241045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D4BE5-88F5-6286-C588-9526B67D3C2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5E89A05-73A9-55B6-279F-55B686408432}"/>
              </a:ext>
            </a:extLst>
          </p:cNvPr>
          <p:cNvSpPr txBox="1">
            <a:spLocks noGrp="1"/>
          </p:cNvSpPr>
          <p:nvPr>
            <p:ph type="title"/>
          </p:nvPr>
        </p:nvSpPr>
        <p:spPr>
          <a:xfrm>
            <a:off x="1947751" y="173736"/>
            <a:ext cx="4576233" cy="505267"/>
          </a:xfrm>
          <a:prstGeom prst="rect">
            <a:avLst/>
          </a:prstGeom>
        </p:spPr>
        <p:txBody>
          <a:bodyPr vert="horz" wrap="square" lIns="0" tIns="12700" rIns="0" bIns="0" rtlCol="0">
            <a:spAutoFit/>
          </a:bodyPr>
          <a:lstStyle/>
          <a:p>
            <a:pPr marL="12700">
              <a:spcBef>
                <a:spcPts val="100"/>
              </a:spcBef>
            </a:pPr>
            <a:r>
              <a:rPr lang="en-GB" sz="3200" dirty="0"/>
              <a:t>IMPLEM. THE AGENT</a:t>
            </a:r>
            <a:endParaRPr spc="-25" dirty="0"/>
          </a:p>
        </p:txBody>
      </p:sp>
      <p:sp>
        <p:nvSpPr>
          <p:cNvPr id="7" name="Footer Placeholder 6">
            <a:extLst>
              <a:ext uri="{FF2B5EF4-FFF2-40B4-BE49-F238E27FC236}">
                <a16:creationId xmlns:a16="http://schemas.microsoft.com/office/drawing/2014/main" id="{33349F28-0532-61DF-BD8D-B8E37DF42746}"/>
              </a:ext>
            </a:extLst>
          </p:cNvPr>
          <p:cNvSpPr>
            <a:spLocks noGrp="1"/>
          </p:cNvSpPr>
          <p:nvPr>
            <p:ph type="ftr" sz="quarter" idx="5"/>
          </p:nvPr>
        </p:nvSpPr>
        <p:spPr/>
        <p:txBody>
          <a:bodyPr/>
          <a:lstStyle/>
          <a:p>
            <a:pPr marL="12700">
              <a:spcBef>
                <a:spcPts val="5"/>
              </a:spcBef>
            </a:pPr>
            <a:r>
              <a:rPr lang="en-GB"/>
              <a:t>University of Applied Sciences Hamm-Lippstadt</a:t>
            </a:r>
            <a:endParaRPr lang="en-GB" spc="-10" dirty="0"/>
          </a:p>
        </p:txBody>
      </p:sp>
      <p:sp>
        <p:nvSpPr>
          <p:cNvPr id="6" name="Google Shape;637;p34">
            <a:extLst>
              <a:ext uri="{FF2B5EF4-FFF2-40B4-BE49-F238E27FC236}">
                <a16:creationId xmlns:a16="http://schemas.microsoft.com/office/drawing/2014/main" id="{337BEAE0-1633-FD53-4440-930E0C0E9D5E}"/>
              </a:ext>
            </a:extLst>
          </p:cNvPr>
          <p:cNvSpPr txBox="1"/>
          <p:nvPr/>
        </p:nvSpPr>
        <p:spPr>
          <a:xfrm>
            <a:off x="226483" y="823720"/>
            <a:ext cx="10441517" cy="1214991"/>
          </a:xfrm>
          <a:prstGeom prst="rect">
            <a:avLst/>
          </a:prstGeom>
          <a:noFill/>
          <a:ln>
            <a:noFill/>
          </a:ln>
        </p:spPr>
        <p:txBody>
          <a:bodyPr spcFirstLastPara="1" wrap="square" lIns="121900" tIns="121900" rIns="121900" bIns="121900" anchor="ctr" anchorCtr="0">
            <a:noAutofit/>
          </a:bodyPr>
          <a:lstStyle/>
          <a:p>
            <a:pPr defTabSz="1219170">
              <a:lnSpc>
                <a:spcPct val="150000"/>
              </a:lnSpc>
              <a:buClr>
                <a:srgbClr val="000000"/>
              </a:buClr>
            </a:pPr>
            <a:r>
              <a:rPr lang="en-GB" sz="2300" dirty="0">
                <a:solidFill>
                  <a:schemeClr val="tx1"/>
                </a:solidFill>
                <a:highlight>
                  <a:srgbClr val="C0C0C0"/>
                </a:highlight>
                <a:latin typeface="Fira Code"/>
                <a:ea typeface="Fira Code"/>
                <a:cs typeface="Fira Code"/>
                <a:sym typeface="Fira Code"/>
              </a:rPr>
              <a:t>Saving functions</a:t>
            </a:r>
            <a:r>
              <a:rPr lang="en-GB" sz="2300" dirty="0">
                <a:solidFill>
                  <a:schemeClr val="tx1"/>
                </a:solidFill>
                <a:latin typeface="Fira Code"/>
                <a:ea typeface="Fira Code"/>
                <a:cs typeface="Fira Code"/>
                <a:sym typeface="Fira Code"/>
              </a:rPr>
              <a:t>: </a:t>
            </a:r>
            <a:r>
              <a:rPr lang="en-GB" sz="2300" kern="0" dirty="0">
                <a:solidFill>
                  <a:schemeClr val="tx1"/>
                </a:solidFill>
                <a:latin typeface="Fira Code"/>
                <a:ea typeface="Fira Code"/>
                <a:cs typeface="Fira Code"/>
                <a:sym typeface="Fira Code"/>
              </a:rPr>
              <a:t>Remember, Train short &amp; long memory</a:t>
            </a:r>
          </a:p>
          <a:p>
            <a:pPr defTabSz="1219170">
              <a:lnSpc>
                <a:spcPct val="150000"/>
              </a:lnSpc>
              <a:buClr>
                <a:srgbClr val="000000"/>
              </a:buClr>
            </a:pPr>
            <a:r>
              <a:rPr lang="en-GB" sz="2300" kern="0" dirty="0">
                <a:solidFill>
                  <a:schemeClr val="tx1"/>
                </a:solidFill>
                <a:highlight>
                  <a:srgbClr val="C0C0C0"/>
                </a:highlight>
                <a:latin typeface="Fira Code"/>
                <a:ea typeface="Fira Code"/>
                <a:cs typeface="Fira Code"/>
                <a:sym typeface="Fira Code"/>
              </a:rPr>
              <a:t>Get action</a:t>
            </a:r>
            <a:r>
              <a:rPr lang="en-GB" sz="2300" kern="0" dirty="0">
                <a:solidFill>
                  <a:schemeClr val="tx1"/>
                </a:solidFill>
                <a:latin typeface="Fira Code"/>
                <a:ea typeface="Fira Code"/>
                <a:cs typeface="Fira Code"/>
                <a:sym typeface="Fira Code"/>
              </a:rPr>
              <a:t>: Random exploration &amp; Exploitation:</a:t>
            </a:r>
          </a:p>
        </p:txBody>
      </p:sp>
      <p:pic>
        <p:nvPicPr>
          <p:cNvPr id="11" name="Picture 10" descr="A screenshot of a computer code&#10;&#10;Description automatically generated">
            <a:extLst>
              <a:ext uri="{FF2B5EF4-FFF2-40B4-BE49-F238E27FC236}">
                <a16:creationId xmlns:a16="http://schemas.microsoft.com/office/drawing/2014/main" id="{2CF11B14-3AC6-BCD8-ABF0-76E15F9982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3617" y="2261103"/>
            <a:ext cx="7985760" cy="4199809"/>
          </a:xfrm>
          <a:prstGeom prst="rect">
            <a:avLst/>
          </a:prstGeom>
        </p:spPr>
      </p:pic>
    </p:spTree>
    <p:extLst>
      <p:ext uri="{BB962C8B-B14F-4D97-AF65-F5344CB8AC3E}">
        <p14:creationId xmlns:p14="http://schemas.microsoft.com/office/powerpoint/2010/main" val="2102217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31E75-4E00-FFBA-64CF-176F2D8C52A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87E19A6-3EED-7160-D697-02EB39622403}"/>
              </a:ext>
            </a:extLst>
          </p:cNvPr>
          <p:cNvSpPr txBox="1">
            <a:spLocks noGrp="1"/>
          </p:cNvSpPr>
          <p:nvPr>
            <p:ph type="title"/>
          </p:nvPr>
        </p:nvSpPr>
        <p:spPr>
          <a:xfrm>
            <a:off x="1947751" y="173736"/>
            <a:ext cx="6434249" cy="505267"/>
          </a:xfrm>
          <a:prstGeom prst="rect">
            <a:avLst/>
          </a:prstGeom>
        </p:spPr>
        <p:txBody>
          <a:bodyPr vert="horz" wrap="square" lIns="0" tIns="12700" rIns="0" bIns="0" rtlCol="0">
            <a:spAutoFit/>
          </a:bodyPr>
          <a:lstStyle/>
          <a:p>
            <a:pPr marL="12700">
              <a:spcBef>
                <a:spcPts val="100"/>
              </a:spcBef>
            </a:pPr>
            <a:r>
              <a:rPr lang="en-GB" sz="3200" dirty="0"/>
              <a:t>IMPLIMENTING THE MODEL</a:t>
            </a:r>
            <a:endParaRPr spc="-25" dirty="0"/>
          </a:p>
        </p:txBody>
      </p:sp>
      <p:sp>
        <p:nvSpPr>
          <p:cNvPr id="7" name="Footer Placeholder 6">
            <a:extLst>
              <a:ext uri="{FF2B5EF4-FFF2-40B4-BE49-F238E27FC236}">
                <a16:creationId xmlns:a16="http://schemas.microsoft.com/office/drawing/2014/main" id="{1F5FEE35-8B5F-C278-D524-06E4D9928EDA}"/>
              </a:ext>
            </a:extLst>
          </p:cNvPr>
          <p:cNvSpPr>
            <a:spLocks noGrp="1"/>
          </p:cNvSpPr>
          <p:nvPr>
            <p:ph type="ftr" sz="quarter" idx="5"/>
          </p:nvPr>
        </p:nvSpPr>
        <p:spPr/>
        <p:txBody>
          <a:bodyPr/>
          <a:lstStyle/>
          <a:p>
            <a:pPr marL="12700">
              <a:spcBef>
                <a:spcPts val="5"/>
              </a:spcBef>
            </a:pPr>
            <a:r>
              <a:rPr lang="en-GB"/>
              <a:t>University of Applied Sciences Hamm-Lippstadt</a:t>
            </a:r>
            <a:endParaRPr lang="en-GB" spc="-10" dirty="0"/>
          </a:p>
        </p:txBody>
      </p:sp>
      <p:sp>
        <p:nvSpPr>
          <p:cNvPr id="10" name="Slide Number Placeholder 9">
            <a:extLst>
              <a:ext uri="{FF2B5EF4-FFF2-40B4-BE49-F238E27FC236}">
                <a16:creationId xmlns:a16="http://schemas.microsoft.com/office/drawing/2014/main" id="{9A71CC68-AF42-09CC-F076-2A38CAF60032}"/>
              </a:ext>
            </a:extLst>
          </p:cNvPr>
          <p:cNvSpPr>
            <a:spLocks noGrp="1"/>
          </p:cNvSpPr>
          <p:nvPr>
            <p:ph type="sldNum" sz="quarter" idx="7"/>
          </p:nvPr>
        </p:nvSpPr>
        <p:spPr/>
        <p:txBody>
          <a:bodyPr/>
          <a:lstStyle/>
          <a:p>
            <a:pPr marL="12700">
              <a:spcBef>
                <a:spcPts val="30"/>
              </a:spcBef>
            </a:pPr>
            <a:r>
              <a:rPr lang="en-DE" dirty="0"/>
              <a:t>0</a:t>
            </a:r>
            <a:r>
              <a:rPr lang="en-GB" dirty="0"/>
              <a:t>6</a:t>
            </a:r>
            <a:r>
              <a:rPr lang="en-DE" dirty="0"/>
              <a:t>.</a:t>
            </a:r>
            <a:r>
              <a:rPr lang="en-GB" dirty="0"/>
              <a:t>02</a:t>
            </a:r>
            <a:r>
              <a:rPr lang="en-DE" dirty="0"/>
              <a:t>.2</a:t>
            </a:r>
            <a:r>
              <a:rPr lang="en-GB" dirty="0"/>
              <a:t>4</a:t>
            </a:r>
            <a:r>
              <a:rPr lang="en-DE" spc="135" dirty="0"/>
              <a:t>  </a:t>
            </a:r>
            <a:r>
              <a:rPr lang="en-DE" dirty="0"/>
              <a:t>&lt;</a:t>
            </a:r>
            <a:r>
              <a:rPr lang="en-DE" spc="-5" dirty="0"/>
              <a:t> </a:t>
            </a:r>
            <a:fld id="{81D60167-4931-47E6-BA6A-407CBD079E47}" type="slidenum">
              <a:rPr smtClean="0"/>
              <a:pPr marL="12700">
                <a:spcBef>
                  <a:spcPts val="30"/>
                </a:spcBef>
              </a:pPr>
              <a:t>10</a:t>
            </a:fld>
            <a:r>
              <a:rPr spc="-15" dirty="0"/>
              <a:t> </a:t>
            </a:r>
            <a:r>
              <a:rPr spc="-50" dirty="0"/>
              <a:t>&gt;</a:t>
            </a:r>
          </a:p>
        </p:txBody>
      </p:sp>
      <p:sp>
        <p:nvSpPr>
          <p:cNvPr id="6" name="Google Shape;637;p34">
            <a:extLst>
              <a:ext uri="{FF2B5EF4-FFF2-40B4-BE49-F238E27FC236}">
                <a16:creationId xmlns:a16="http://schemas.microsoft.com/office/drawing/2014/main" id="{491FBE27-67A4-0D35-88D5-CAFA0ECC13E2}"/>
              </a:ext>
            </a:extLst>
          </p:cNvPr>
          <p:cNvSpPr txBox="1"/>
          <p:nvPr/>
        </p:nvSpPr>
        <p:spPr>
          <a:xfrm>
            <a:off x="217775" y="1337493"/>
            <a:ext cx="9963606" cy="2598877"/>
          </a:xfrm>
          <a:prstGeom prst="rect">
            <a:avLst/>
          </a:prstGeom>
          <a:noFill/>
          <a:ln>
            <a:noFill/>
          </a:ln>
        </p:spPr>
        <p:txBody>
          <a:bodyPr spcFirstLastPara="1" wrap="square" lIns="121900" tIns="121900" rIns="121900" bIns="121900" anchor="ctr" anchorCtr="0">
            <a:noAutofit/>
          </a:bodyPr>
          <a:lstStyle/>
          <a:p>
            <a:pPr marL="457200" indent="-457200" defTabSz="1219170">
              <a:lnSpc>
                <a:spcPct val="150000"/>
              </a:lnSpc>
              <a:buClr>
                <a:srgbClr val="000000"/>
              </a:buClr>
              <a:buAutoNum type="arabicPeriod"/>
            </a:pPr>
            <a:r>
              <a:rPr lang="en-GB" sz="2300" kern="0" dirty="0">
                <a:solidFill>
                  <a:schemeClr val="tx1"/>
                </a:solidFill>
                <a:highlight>
                  <a:srgbClr val="C0C0C0"/>
                </a:highlight>
                <a:latin typeface="Fira Code"/>
                <a:ea typeface="Fira Code"/>
                <a:cs typeface="Fira Code"/>
                <a:sym typeface="Fira Code"/>
              </a:rPr>
              <a:t>Linear </a:t>
            </a:r>
            <a:r>
              <a:rPr lang="en-GB" sz="2300" kern="0" dirty="0" err="1">
                <a:solidFill>
                  <a:schemeClr val="tx1"/>
                </a:solidFill>
                <a:highlight>
                  <a:srgbClr val="C0C0C0"/>
                </a:highlight>
                <a:latin typeface="Fira Code"/>
                <a:ea typeface="Fira Code"/>
                <a:cs typeface="Fira Code"/>
                <a:sym typeface="Fira Code"/>
              </a:rPr>
              <a:t>Qnet</a:t>
            </a:r>
            <a:r>
              <a:rPr lang="en-GB" sz="2300" kern="0" dirty="0">
                <a:solidFill>
                  <a:schemeClr val="tx1"/>
                </a:solidFill>
                <a:latin typeface="Fira Code"/>
                <a:ea typeface="Fira Code"/>
                <a:cs typeface="Fira Code"/>
                <a:sym typeface="Fira Code"/>
              </a:rPr>
              <a:t>:</a:t>
            </a:r>
          </a:p>
          <a:p>
            <a:pPr marL="457200" indent="-457200" defTabSz="1219170">
              <a:lnSpc>
                <a:spcPct val="150000"/>
              </a:lnSpc>
              <a:buClr>
                <a:srgbClr val="000000"/>
              </a:buClr>
              <a:buAutoNum type="arabicPeriod"/>
            </a:pPr>
            <a:endParaRPr lang="en-GB" sz="2300" dirty="0">
              <a:solidFill>
                <a:schemeClr val="tx1"/>
              </a:solidFill>
              <a:latin typeface="Fira Code"/>
              <a:ea typeface="Fira Code"/>
              <a:cs typeface="Fira Code"/>
              <a:sym typeface="Fira Code"/>
            </a:endParaRPr>
          </a:p>
          <a:p>
            <a:pPr defTabSz="1219170">
              <a:lnSpc>
                <a:spcPct val="150000"/>
              </a:lnSpc>
              <a:buClr>
                <a:srgbClr val="000000"/>
              </a:buClr>
            </a:pPr>
            <a:endParaRPr lang="en-GB" sz="2300" kern="0" dirty="0">
              <a:solidFill>
                <a:schemeClr val="tx1"/>
              </a:solidFill>
              <a:latin typeface="Fira Code"/>
              <a:ea typeface="Fira Code"/>
              <a:cs typeface="Fira Code"/>
              <a:sym typeface="Fira Code"/>
            </a:endParaRPr>
          </a:p>
          <a:p>
            <a:pPr defTabSz="1219170">
              <a:lnSpc>
                <a:spcPct val="150000"/>
              </a:lnSpc>
              <a:buClr>
                <a:srgbClr val="000000"/>
              </a:buClr>
            </a:pPr>
            <a:r>
              <a:rPr lang="en-GB" sz="2300" kern="0" dirty="0">
                <a:solidFill>
                  <a:schemeClr val="tx1"/>
                </a:solidFill>
                <a:latin typeface="Fira Code"/>
                <a:ea typeface="Fira Code"/>
                <a:cs typeface="Fira Code"/>
                <a:sym typeface="Fira Code"/>
              </a:rPr>
              <a:t>2. </a:t>
            </a:r>
            <a:r>
              <a:rPr lang="en-GB" sz="2300" kern="0" dirty="0" err="1">
                <a:solidFill>
                  <a:schemeClr val="tx1"/>
                </a:solidFill>
                <a:highlight>
                  <a:srgbClr val="C0C0C0"/>
                </a:highlight>
                <a:latin typeface="Fira Code"/>
                <a:ea typeface="Fira Code"/>
                <a:cs typeface="Fira Code"/>
                <a:sym typeface="Fira Code"/>
              </a:rPr>
              <a:t>QTrainer</a:t>
            </a:r>
            <a:r>
              <a:rPr lang="en-GB" sz="2300" kern="0" dirty="0">
                <a:solidFill>
                  <a:schemeClr val="tx1"/>
                </a:solidFill>
                <a:latin typeface="Fira Code"/>
                <a:ea typeface="Fira Code"/>
                <a:cs typeface="Fira Code"/>
                <a:sym typeface="Fira Code"/>
              </a:rPr>
              <a:t>:</a:t>
            </a:r>
          </a:p>
          <a:p>
            <a:pPr defTabSz="1219170">
              <a:lnSpc>
                <a:spcPct val="150000"/>
              </a:lnSpc>
              <a:buClr>
                <a:srgbClr val="000000"/>
              </a:buClr>
            </a:pPr>
            <a:endParaRPr lang="en-GB" sz="2300" kern="0" dirty="0">
              <a:solidFill>
                <a:schemeClr val="tx1"/>
              </a:solidFill>
              <a:latin typeface="Fira Code"/>
              <a:ea typeface="Fira Code"/>
              <a:cs typeface="Fira Code"/>
              <a:sym typeface="Fira Code"/>
            </a:endParaRPr>
          </a:p>
          <a:p>
            <a:pPr defTabSz="1219170">
              <a:lnSpc>
                <a:spcPct val="150000"/>
              </a:lnSpc>
              <a:buClr>
                <a:srgbClr val="000000"/>
              </a:buClr>
            </a:pPr>
            <a:r>
              <a:rPr lang="en-GB" sz="2300" kern="0" dirty="0">
                <a:solidFill>
                  <a:schemeClr val="tx1"/>
                </a:solidFill>
                <a:latin typeface="Fira Code"/>
                <a:ea typeface="Fira Code"/>
                <a:cs typeface="Fira Code"/>
                <a:sym typeface="Fira Code"/>
              </a:rPr>
              <a:t>3. </a:t>
            </a:r>
            <a:r>
              <a:rPr lang="en-GB" sz="2300" kern="0" dirty="0">
                <a:solidFill>
                  <a:schemeClr val="tx1"/>
                </a:solidFill>
                <a:highlight>
                  <a:srgbClr val="C0C0C0"/>
                </a:highlight>
                <a:latin typeface="Fira Code"/>
                <a:ea typeface="Fira Code"/>
                <a:cs typeface="Fira Code"/>
                <a:sym typeface="Fira Code"/>
              </a:rPr>
              <a:t>Q Value and Bellman Equation</a:t>
            </a:r>
            <a:r>
              <a:rPr lang="en-GB" sz="2300" kern="0" dirty="0">
                <a:solidFill>
                  <a:schemeClr val="tx1"/>
                </a:solidFill>
                <a:latin typeface="Fira Code"/>
                <a:ea typeface="Fira Code"/>
                <a:cs typeface="Fira Code"/>
                <a:sym typeface="Fira Code"/>
              </a:rPr>
              <a:t>:</a:t>
            </a:r>
          </a:p>
        </p:txBody>
      </p:sp>
      <p:pic>
        <p:nvPicPr>
          <p:cNvPr id="8" name="Picture 7" descr="A black and white math symbols&#10;&#10;Description automatically generated with medium confidence">
            <a:extLst>
              <a:ext uri="{FF2B5EF4-FFF2-40B4-BE49-F238E27FC236}">
                <a16:creationId xmlns:a16="http://schemas.microsoft.com/office/drawing/2014/main" id="{30E720B6-9199-8DEF-CAA6-14A7A0E2D425}"/>
              </a:ext>
            </a:extLst>
          </p:cNvPr>
          <p:cNvPicPr>
            <a:picLocks noChangeAspect="1"/>
          </p:cNvPicPr>
          <p:nvPr/>
        </p:nvPicPr>
        <p:blipFill rotWithShape="1">
          <a:blip r:embed="rId2">
            <a:extLst>
              <a:ext uri="{28A0092B-C50C-407E-A947-70E740481C1C}">
                <a14:useLocalDpi xmlns:a14="http://schemas.microsoft.com/office/drawing/2010/main" val="0"/>
              </a:ext>
            </a:extLst>
          </a:blip>
          <a:srcRect t="3407" b="3061"/>
          <a:stretch/>
        </p:blipFill>
        <p:spPr>
          <a:xfrm>
            <a:off x="856106" y="4533900"/>
            <a:ext cx="10479787" cy="2057400"/>
          </a:xfrm>
          <a:prstGeom prst="rect">
            <a:avLst/>
          </a:prstGeom>
        </p:spPr>
      </p:pic>
      <p:pic>
        <p:nvPicPr>
          <p:cNvPr id="9" name="Picture 8" descr="A black and white text&#10;&#10;Description automatically generated">
            <a:extLst>
              <a:ext uri="{FF2B5EF4-FFF2-40B4-BE49-F238E27FC236}">
                <a16:creationId xmlns:a16="http://schemas.microsoft.com/office/drawing/2014/main" id="{A148D0C3-462D-F2B0-F1BE-D48A635E39A5}"/>
              </a:ext>
            </a:extLst>
          </p:cNvPr>
          <p:cNvPicPr>
            <a:picLocks noChangeAspect="1"/>
          </p:cNvPicPr>
          <p:nvPr/>
        </p:nvPicPr>
        <p:blipFill rotWithShape="1">
          <a:blip r:embed="rId3">
            <a:extLst>
              <a:ext uri="{28A0092B-C50C-407E-A947-70E740481C1C}">
                <a14:useLocalDpi xmlns:a14="http://schemas.microsoft.com/office/drawing/2010/main" val="0"/>
              </a:ext>
            </a:extLst>
          </a:blip>
          <a:srcRect t="9205" b="17114"/>
          <a:stretch/>
        </p:blipFill>
        <p:spPr>
          <a:xfrm>
            <a:off x="2743199" y="3233037"/>
            <a:ext cx="3352800" cy="363885"/>
          </a:xfrm>
          <a:prstGeom prst="rect">
            <a:avLst/>
          </a:prstGeom>
        </p:spPr>
      </p:pic>
      <p:pic>
        <p:nvPicPr>
          <p:cNvPr id="14" name="Picture 13" descr="A screen shot of a computer code&#10;&#10;Description automatically generated">
            <a:extLst>
              <a:ext uri="{FF2B5EF4-FFF2-40B4-BE49-F238E27FC236}">
                <a16:creationId xmlns:a16="http://schemas.microsoft.com/office/drawing/2014/main" id="{A1B77CE6-84B6-1AF7-9673-50ABECFEEB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66666" y="1238747"/>
            <a:ext cx="7581510" cy="1816981"/>
          </a:xfrm>
          <a:prstGeom prst="rect">
            <a:avLst/>
          </a:prstGeom>
        </p:spPr>
      </p:pic>
    </p:spTree>
    <p:extLst>
      <p:ext uri="{BB962C8B-B14F-4D97-AF65-F5344CB8AC3E}">
        <p14:creationId xmlns:p14="http://schemas.microsoft.com/office/powerpoint/2010/main" val="27467157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947751" y="173736"/>
            <a:ext cx="4576233" cy="366767"/>
          </a:xfrm>
          <a:prstGeom prst="rect">
            <a:avLst/>
          </a:prstGeom>
        </p:spPr>
        <p:txBody>
          <a:bodyPr vert="horz" wrap="square" lIns="0" tIns="12700" rIns="0" bIns="0" rtlCol="0">
            <a:spAutoFit/>
          </a:bodyPr>
          <a:lstStyle/>
          <a:p>
            <a:pPr marL="12700">
              <a:spcBef>
                <a:spcPts val="100"/>
              </a:spcBef>
            </a:pPr>
            <a:r>
              <a:rPr lang="en-GB" dirty="0"/>
              <a:t>Deep Q-Learning process</a:t>
            </a:r>
            <a:endParaRPr spc="-50" dirty="0"/>
          </a:p>
        </p:txBody>
      </p:sp>
      <p:sp>
        <p:nvSpPr>
          <p:cNvPr id="10" name="Footer Placeholder 9">
            <a:extLst>
              <a:ext uri="{FF2B5EF4-FFF2-40B4-BE49-F238E27FC236}">
                <a16:creationId xmlns:a16="http://schemas.microsoft.com/office/drawing/2014/main" id="{C5DD890E-3704-7EFF-E851-6F73C669FF5A}"/>
              </a:ext>
            </a:extLst>
          </p:cNvPr>
          <p:cNvSpPr>
            <a:spLocks noGrp="1"/>
          </p:cNvSpPr>
          <p:nvPr>
            <p:ph type="ftr" sz="quarter" idx="5"/>
          </p:nvPr>
        </p:nvSpPr>
        <p:spPr/>
        <p:txBody>
          <a:bodyPr/>
          <a:lstStyle/>
          <a:p>
            <a:pPr marL="12700">
              <a:spcBef>
                <a:spcPts val="5"/>
              </a:spcBef>
            </a:pPr>
            <a:r>
              <a:rPr lang="en-GB"/>
              <a:t>University of Applied Sciences Hamm-Lippstadt</a:t>
            </a:r>
            <a:endParaRPr lang="en-GB" spc="-10" dirty="0"/>
          </a:p>
        </p:txBody>
      </p:sp>
      <p:sp>
        <p:nvSpPr>
          <p:cNvPr id="13" name="Slide Number Placeholder 12">
            <a:extLst>
              <a:ext uri="{FF2B5EF4-FFF2-40B4-BE49-F238E27FC236}">
                <a16:creationId xmlns:a16="http://schemas.microsoft.com/office/drawing/2014/main" id="{98C352AF-9DAA-4F29-EAA9-57CED3EE3D67}"/>
              </a:ext>
            </a:extLst>
          </p:cNvPr>
          <p:cNvSpPr>
            <a:spLocks noGrp="1"/>
          </p:cNvSpPr>
          <p:nvPr>
            <p:ph type="sldNum" sz="quarter" idx="7"/>
          </p:nvPr>
        </p:nvSpPr>
        <p:spPr/>
        <p:txBody>
          <a:bodyPr/>
          <a:lstStyle/>
          <a:p>
            <a:pPr marL="12700">
              <a:spcBef>
                <a:spcPts val="30"/>
              </a:spcBef>
            </a:pPr>
            <a:r>
              <a:rPr lang="en-DE" dirty="0"/>
              <a:t>0</a:t>
            </a:r>
            <a:r>
              <a:rPr lang="en-GB" dirty="0"/>
              <a:t>6</a:t>
            </a:r>
            <a:r>
              <a:rPr lang="en-DE" dirty="0"/>
              <a:t>.</a:t>
            </a:r>
            <a:r>
              <a:rPr lang="en-GB" dirty="0"/>
              <a:t>02</a:t>
            </a:r>
            <a:r>
              <a:rPr lang="en-DE" dirty="0"/>
              <a:t>.2</a:t>
            </a:r>
            <a:r>
              <a:rPr lang="en-GB" dirty="0"/>
              <a:t>4</a:t>
            </a:r>
            <a:r>
              <a:rPr lang="en-DE" spc="135" dirty="0"/>
              <a:t>  </a:t>
            </a:r>
            <a:r>
              <a:rPr lang="en-DE" dirty="0"/>
              <a:t>&lt;</a:t>
            </a:r>
            <a:r>
              <a:rPr lang="en-DE" spc="-5" dirty="0"/>
              <a:t> </a:t>
            </a:r>
            <a:fld id="{81D60167-4931-47E6-BA6A-407CBD079E47}" type="slidenum">
              <a:rPr smtClean="0"/>
              <a:pPr marL="12700">
                <a:spcBef>
                  <a:spcPts val="30"/>
                </a:spcBef>
              </a:pPr>
              <a:t>11</a:t>
            </a:fld>
            <a:r>
              <a:rPr spc="-15" dirty="0"/>
              <a:t> </a:t>
            </a:r>
            <a:r>
              <a:rPr spc="-50" dirty="0"/>
              <a:t>&gt;</a:t>
            </a:r>
          </a:p>
        </p:txBody>
      </p:sp>
      <p:sp>
        <p:nvSpPr>
          <p:cNvPr id="27" name="Google Shape;636;p34">
            <a:extLst>
              <a:ext uri="{FF2B5EF4-FFF2-40B4-BE49-F238E27FC236}">
                <a16:creationId xmlns:a16="http://schemas.microsoft.com/office/drawing/2014/main" id="{881FF53F-3106-CFAE-1E9B-2F34BCEBA487}"/>
              </a:ext>
            </a:extLst>
          </p:cNvPr>
          <p:cNvSpPr txBox="1"/>
          <p:nvPr/>
        </p:nvSpPr>
        <p:spPr>
          <a:xfrm>
            <a:off x="2211711" y="1726183"/>
            <a:ext cx="429637" cy="3237658"/>
          </a:xfrm>
          <a:prstGeom prst="rect">
            <a:avLst/>
          </a:prstGeom>
          <a:noFill/>
          <a:ln>
            <a:noFill/>
          </a:ln>
        </p:spPr>
        <p:txBody>
          <a:bodyPr spcFirstLastPara="1" wrap="square" lIns="121900" tIns="121900" rIns="121900" bIns="121900" anchor="ctr" anchorCtr="0">
            <a:noAutofit/>
          </a:bodyPr>
          <a:lstStyle/>
          <a:p>
            <a:pPr algn="l" defTabSz="1219170" rtl="0">
              <a:lnSpc>
                <a:spcPct val="150000"/>
              </a:lnSpc>
              <a:buClr>
                <a:srgbClr val="000000"/>
              </a:buClr>
            </a:pPr>
            <a:r>
              <a:rPr lang="en" sz="2400" dirty="0">
                <a:solidFill>
                  <a:srgbClr val="7030A0"/>
                </a:solidFill>
                <a:latin typeface="Fira Code"/>
                <a:ea typeface="Fira Code"/>
                <a:cs typeface="Fira Code"/>
                <a:sym typeface="Fira Code"/>
              </a:rPr>
              <a:t>1</a:t>
            </a:r>
          </a:p>
          <a:p>
            <a:pPr algn="l" defTabSz="1219170" rtl="0">
              <a:lnSpc>
                <a:spcPct val="150000"/>
              </a:lnSpc>
              <a:buClr>
                <a:srgbClr val="000000"/>
              </a:buClr>
            </a:pPr>
            <a:r>
              <a:rPr lang="en" sz="2400" dirty="0">
                <a:solidFill>
                  <a:srgbClr val="7030A0"/>
                </a:solidFill>
                <a:latin typeface="Fira Code"/>
                <a:ea typeface="Fira Code"/>
                <a:cs typeface="Fira Code"/>
                <a:sym typeface="Fira Code"/>
              </a:rPr>
              <a:t>2</a:t>
            </a:r>
          </a:p>
          <a:p>
            <a:pPr algn="l" defTabSz="1219170" rtl="0">
              <a:lnSpc>
                <a:spcPct val="150000"/>
              </a:lnSpc>
              <a:buClr>
                <a:srgbClr val="000000"/>
              </a:buClr>
            </a:pPr>
            <a:r>
              <a:rPr lang="en" sz="2400" dirty="0">
                <a:solidFill>
                  <a:srgbClr val="7030A0"/>
                </a:solidFill>
                <a:latin typeface="Fira Code"/>
                <a:ea typeface="Fira Code"/>
                <a:cs typeface="Fira Code"/>
                <a:sym typeface="Fira Code"/>
              </a:rPr>
              <a:t>3</a:t>
            </a:r>
          </a:p>
          <a:p>
            <a:pPr algn="l" defTabSz="1219170" rtl="0">
              <a:lnSpc>
                <a:spcPct val="150000"/>
              </a:lnSpc>
              <a:buClr>
                <a:srgbClr val="000000"/>
              </a:buClr>
            </a:pPr>
            <a:r>
              <a:rPr lang="en" sz="2400" dirty="0">
                <a:solidFill>
                  <a:srgbClr val="7030A0"/>
                </a:solidFill>
                <a:latin typeface="Fira Code"/>
                <a:ea typeface="Fira Code"/>
                <a:cs typeface="Fira Code"/>
                <a:sym typeface="Fira Code"/>
              </a:rPr>
              <a:t>4</a:t>
            </a:r>
          </a:p>
          <a:p>
            <a:pPr algn="l" defTabSz="1219170" rtl="0">
              <a:lnSpc>
                <a:spcPct val="150000"/>
              </a:lnSpc>
              <a:buClr>
                <a:srgbClr val="000000"/>
              </a:buClr>
            </a:pPr>
            <a:r>
              <a:rPr lang="en" sz="2400" dirty="0">
                <a:solidFill>
                  <a:srgbClr val="7030A0"/>
                </a:solidFill>
                <a:latin typeface="Fira Code"/>
                <a:ea typeface="Fira Code"/>
                <a:cs typeface="Fira Code"/>
                <a:sym typeface="Fira Code"/>
              </a:rPr>
              <a:t>5</a:t>
            </a:r>
          </a:p>
          <a:p>
            <a:pPr algn="l" defTabSz="1219170" rtl="0">
              <a:lnSpc>
                <a:spcPct val="150000"/>
              </a:lnSpc>
              <a:buClr>
                <a:srgbClr val="000000"/>
              </a:buClr>
            </a:pPr>
            <a:r>
              <a:rPr lang="en" sz="2400" dirty="0">
                <a:solidFill>
                  <a:srgbClr val="7030A0"/>
                </a:solidFill>
                <a:latin typeface="Fira Code"/>
                <a:ea typeface="Fira Code"/>
                <a:cs typeface="Fira Code"/>
                <a:sym typeface="Fira Code"/>
              </a:rPr>
              <a:t>6</a:t>
            </a:r>
          </a:p>
        </p:txBody>
      </p:sp>
      <p:sp>
        <p:nvSpPr>
          <p:cNvPr id="28" name="Google Shape;637;p34">
            <a:extLst>
              <a:ext uri="{FF2B5EF4-FFF2-40B4-BE49-F238E27FC236}">
                <a16:creationId xmlns:a16="http://schemas.microsoft.com/office/drawing/2014/main" id="{5B450B03-D0FB-5C37-064E-B4F984EE8BFE}"/>
              </a:ext>
            </a:extLst>
          </p:cNvPr>
          <p:cNvSpPr txBox="1"/>
          <p:nvPr/>
        </p:nvSpPr>
        <p:spPr>
          <a:xfrm>
            <a:off x="2596133" y="1081415"/>
            <a:ext cx="8358623" cy="4527195"/>
          </a:xfrm>
          <a:prstGeom prst="rect">
            <a:avLst/>
          </a:prstGeom>
          <a:noFill/>
          <a:ln>
            <a:noFill/>
          </a:ln>
        </p:spPr>
        <p:txBody>
          <a:bodyPr spcFirstLastPara="1" wrap="square" lIns="121900" tIns="121900" rIns="121900" bIns="121900" anchor="ctr" anchorCtr="0">
            <a:noAutofit/>
          </a:bodyPr>
          <a:lstStyle/>
          <a:p>
            <a:pPr algn="l" defTabSz="1219170" rtl="0">
              <a:lnSpc>
                <a:spcPct val="150000"/>
              </a:lnSpc>
              <a:buClr>
                <a:srgbClr val="000000"/>
              </a:buClr>
            </a:pPr>
            <a:r>
              <a:rPr lang="en-GB" sz="2400" dirty="0">
                <a:solidFill>
                  <a:schemeClr val="tx1"/>
                </a:solidFill>
                <a:latin typeface="Fira Code"/>
                <a:ea typeface="Fira Code"/>
                <a:cs typeface="Fira Code"/>
                <a:sym typeface="Fira Code"/>
              </a:rPr>
              <a:t>Initialize Q-values</a:t>
            </a:r>
          </a:p>
          <a:p>
            <a:pPr algn="l" defTabSz="1219170" rtl="0">
              <a:lnSpc>
                <a:spcPct val="150000"/>
              </a:lnSpc>
              <a:buClr>
                <a:srgbClr val="000000"/>
              </a:buClr>
            </a:pPr>
            <a:r>
              <a:rPr lang="en-GB" sz="2400" dirty="0">
                <a:solidFill>
                  <a:schemeClr val="tx1"/>
                </a:solidFill>
                <a:latin typeface="Fira Code"/>
                <a:ea typeface="Fira Code"/>
                <a:cs typeface="Fira Code"/>
                <a:sym typeface="Fira Code"/>
              </a:rPr>
              <a:t>Choose action a for state s (Best Q-value)</a:t>
            </a:r>
          </a:p>
          <a:p>
            <a:pPr algn="l" defTabSz="1219170" rtl="0">
              <a:lnSpc>
                <a:spcPct val="150000"/>
              </a:lnSpc>
              <a:buClr>
                <a:srgbClr val="000000"/>
              </a:buClr>
            </a:pPr>
            <a:r>
              <a:rPr lang="en-GB" sz="2400" dirty="0">
                <a:solidFill>
                  <a:schemeClr val="tx1"/>
                </a:solidFill>
                <a:latin typeface="Fira Code"/>
                <a:ea typeface="Fira Code"/>
                <a:cs typeface="Fira Code"/>
                <a:sym typeface="Fira Code"/>
              </a:rPr>
              <a:t>Perform action a, new state s’</a:t>
            </a:r>
          </a:p>
          <a:p>
            <a:pPr algn="l" defTabSz="1219170" rtl="0">
              <a:lnSpc>
                <a:spcPct val="150000"/>
              </a:lnSpc>
              <a:buClr>
                <a:srgbClr val="000000"/>
              </a:buClr>
            </a:pPr>
            <a:r>
              <a:rPr lang="en-GB" sz="2400" dirty="0">
                <a:solidFill>
                  <a:schemeClr val="tx1"/>
                </a:solidFill>
                <a:latin typeface="Fira Code"/>
                <a:ea typeface="Fira Code"/>
                <a:cs typeface="Fira Code"/>
                <a:sym typeface="Fira Code"/>
              </a:rPr>
              <a:t>Measure reward R</a:t>
            </a:r>
          </a:p>
          <a:p>
            <a:pPr algn="l" defTabSz="1219170" rtl="0">
              <a:lnSpc>
                <a:spcPct val="150000"/>
              </a:lnSpc>
              <a:buClr>
                <a:srgbClr val="000000"/>
              </a:buClr>
            </a:pPr>
            <a:r>
              <a:rPr lang="en-GB" sz="2400" dirty="0">
                <a:solidFill>
                  <a:schemeClr val="tx1"/>
                </a:solidFill>
                <a:latin typeface="Fira Code"/>
                <a:ea typeface="Fira Code"/>
                <a:cs typeface="Fira Code"/>
                <a:sym typeface="Fira Code"/>
              </a:rPr>
              <a:t>Update Q with Bellman Equation</a:t>
            </a:r>
          </a:p>
          <a:p>
            <a:pPr algn="l" defTabSz="1219170" rtl="0">
              <a:lnSpc>
                <a:spcPct val="150000"/>
              </a:lnSpc>
              <a:buClr>
                <a:srgbClr val="000000"/>
              </a:buClr>
            </a:pPr>
            <a:r>
              <a:rPr lang="en-GB" sz="2400" dirty="0">
                <a:solidFill>
                  <a:schemeClr val="tx1"/>
                </a:solidFill>
                <a:latin typeface="Fira Code"/>
                <a:ea typeface="Fira Code"/>
                <a:cs typeface="Fira Code"/>
                <a:sym typeface="Fira Code"/>
              </a:rPr>
              <a:t>Update weights of the Neural Network</a:t>
            </a:r>
          </a:p>
        </p:txBody>
      </p:sp>
      <p:cxnSp>
        <p:nvCxnSpPr>
          <p:cNvPr id="29" name="Google Shape;647;p34">
            <a:extLst>
              <a:ext uri="{FF2B5EF4-FFF2-40B4-BE49-F238E27FC236}">
                <a16:creationId xmlns:a16="http://schemas.microsoft.com/office/drawing/2014/main" id="{A8295160-E0E3-2AE3-BA3C-B335B3808817}"/>
              </a:ext>
            </a:extLst>
          </p:cNvPr>
          <p:cNvCxnSpPr>
            <a:cxnSpLocks/>
          </p:cNvCxnSpPr>
          <p:nvPr/>
        </p:nvCxnSpPr>
        <p:spPr>
          <a:xfrm>
            <a:off x="1779606" y="2012863"/>
            <a:ext cx="0" cy="2738619"/>
          </a:xfrm>
          <a:prstGeom prst="straightConnector1">
            <a:avLst/>
          </a:prstGeom>
          <a:noFill/>
          <a:ln w="9525" cap="flat" cmpd="sng">
            <a:solidFill>
              <a:srgbClr val="707070"/>
            </a:solidFill>
            <a:prstDash val="solid"/>
            <a:round/>
            <a:headEnd type="none" w="med" len="med"/>
            <a:tailEnd type="none" w="med" len="med"/>
          </a:ln>
        </p:spPr>
      </p:cxnSp>
      <p:cxnSp>
        <p:nvCxnSpPr>
          <p:cNvPr id="30" name="Google Shape;648;p34">
            <a:extLst>
              <a:ext uri="{FF2B5EF4-FFF2-40B4-BE49-F238E27FC236}">
                <a16:creationId xmlns:a16="http://schemas.microsoft.com/office/drawing/2014/main" id="{96C9E129-76BF-64E9-207E-DA98EAC19D79}"/>
              </a:ext>
            </a:extLst>
          </p:cNvPr>
          <p:cNvCxnSpPr>
            <a:cxnSpLocks/>
          </p:cNvCxnSpPr>
          <p:nvPr/>
        </p:nvCxnSpPr>
        <p:spPr>
          <a:xfrm>
            <a:off x="1773296" y="2012863"/>
            <a:ext cx="393200" cy="0"/>
          </a:xfrm>
          <a:prstGeom prst="straightConnector1">
            <a:avLst/>
          </a:prstGeom>
          <a:noFill/>
          <a:ln w="9525" cap="flat" cmpd="sng">
            <a:solidFill>
              <a:srgbClr val="707070"/>
            </a:solidFill>
            <a:prstDash val="solid"/>
            <a:round/>
            <a:headEnd type="none" w="med" len="med"/>
            <a:tailEnd type="none" w="med" len="med"/>
          </a:ln>
        </p:spPr>
      </p:cxnSp>
      <p:sp>
        <p:nvSpPr>
          <p:cNvPr id="31" name="Google Shape;651;p34">
            <a:extLst>
              <a:ext uri="{FF2B5EF4-FFF2-40B4-BE49-F238E27FC236}">
                <a16:creationId xmlns:a16="http://schemas.microsoft.com/office/drawing/2014/main" id="{D50FDDB0-B6D4-1D31-4E93-956626B31435}"/>
              </a:ext>
            </a:extLst>
          </p:cNvPr>
          <p:cNvSpPr/>
          <p:nvPr/>
        </p:nvSpPr>
        <p:spPr>
          <a:xfrm>
            <a:off x="1702606" y="3403569"/>
            <a:ext cx="154000" cy="154000"/>
          </a:xfrm>
          <a:prstGeom prst="ellipse">
            <a:avLst/>
          </a:prstGeom>
          <a:noFill/>
          <a:ln>
            <a:noFill/>
          </a:ln>
        </p:spPr>
        <p:txBody>
          <a:bodyPr spcFirstLastPara="1" wrap="square" lIns="121900" tIns="121900" rIns="121900" bIns="121900" anchor="ctr" anchorCtr="0">
            <a:noAutofit/>
          </a:bodyPr>
          <a:lstStyle/>
          <a:p>
            <a:pPr algn="l" defTabSz="1219170" rtl="0">
              <a:buClr>
                <a:srgbClr val="000000"/>
              </a:buClr>
            </a:pPr>
            <a:endParaRPr sz="1867">
              <a:solidFill>
                <a:srgbClr val="000000"/>
              </a:solidFill>
              <a:latin typeface="Arial"/>
              <a:ea typeface="+mn-ea"/>
              <a:cs typeface="Arial"/>
              <a:sym typeface="Arial"/>
            </a:endParaRPr>
          </a:p>
        </p:txBody>
      </p:sp>
      <p:sp>
        <p:nvSpPr>
          <p:cNvPr id="32" name="Google Shape;653;p34">
            <a:extLst>
              <a:ext uri="{FF2B5EF4-FFF2-40B4-BE49-F238E27FC236}">
                <a16:creationId xmlns:a16="http://schemas.microsoft.com/office/drawing/2014/main" id="{A5C48A58-ECAB-1525-A7A0-385ACD04A8DE}"/>
              </a:ext>
            </a:extLst>
          </p:cNvPr>
          <p:cNvSpPr/>
          <p:nvPr/>
        </p:nvSpPr>
        <p:spPr>
          <a:xfrm>
            <a:off x="1702606" y="4366980"/>
            <a:ext cx="154000" cy="154000"/>
          </a:xfrm>
          <a:prstGeom prst="ellipse">
            <a:avLst/>
          </a:prstGeom>
          <a:noFill/>
          <a:ln>
            <a:noFill/>
          </a:ln>
        </p:spPr>
        <p:txBody>
          <a:bodyPr spcFirstLastPara="1" wrap="square" lIns="121900" tIns="121900" rIns="121900" bIns="121900" anchor="ctr" anchorCtr="0">
            <a:noAutofit/>
          </a:bodyPr>
          <a:lstStyle/>
          <a:p>
            <a:pPr algn="l" defTabSz="1219170" rtl="0">
              <a:buClr>
                <a:srgbClr val="000000"/>
              </a:buClr>
            </a:pPr>
            <a:endParaRPr sz="1867">
              <a:solidFill>
                <a:srgbClr val="000000"/>
              </a:solidFill>
              <a:latin typeface="Arial"/>
              <a:ea typeface="+mn-ea"/>
              <a:cs typeface="Arial"/>
              <a:sym typeface="Arial"/>
            </a:endParaRPr>
          </a:p>
        </p:txBody>
      </p:sp>
      <p:sp>
        <p:nvSpPr>
          <p:cNvPr id="33" name="Google Shape;655;p34">
            <a:extLst>
              <a:ext uri="{FF2B5EF4-FFF2-40B4-BE49-F238E27FC236}">
                <a16:creationId xmlns:a16="http://schemas.microsoft.com/office/drawing/2014/main" id="{FF4B2E22-1B3E-956C-78C4-FEBD3C1829F9}"/>
              </a:ext>
            </a:extLst>
          </p:cNvPr>
          <p:cNvSpPr/>
          <p:nvPr/>
        </p:nvSpPr>
        <p:spPr>
          <a:xfrm>
            <a:off x="1702606" y="5330392"/>
            <a:ext cx="154000" cy="154000"/>
          </a:xfrm>
          <a:prstGeom prst="ellipse">
            <a:avLst/>
          </a:prstGeom>
          <a:noFill/>
          <a:ln>
            <a:noFill/>
          </a:ln>
        </p:spPr>
        <p:txBody>
          <a:bodyPr spcFirstLastPara="1" wrap="square" lIns="121900" tIns="121900" rIns="121900" bIns="121900" anchor="ctr" anchorCtr="0">
            <a:noAutofit/>
          </a:bodyPr>
          <a:lstStyle/>
          <a:p>
            <a:pPr algn="l" defTabSz="1219170" rtl="0">
              <a:buClr>
                <a:srgbClr val="000000"/>
              </a:buClr>
            </a:pPr>
            <a:endParaRPr sz="1867">
              <a:solidFill>
                <a:srgbClr val="000000"/>
              </a:solidFill>
              <a:latin typeface="Arial"/>
              <a:ea typeface="+mn-ea"/>
              <a:cs typeface="Arial"/>
              <a:sym typeface="Arial"/>
            </a:endParaRPr>
          </a:p>
        </p:txBody>
      </p:sp>
      <p:cxnSp>
        <p:nvCxnSpPr>
          <p:cNvPr id="34" name="Google Shape;648;p34">
            <a:extLst>
              <a:ext uri="{FF2B5EF4-FFF2-40B4-BE49-F238E27FC236}">
                <a16:creationId xmlns:a16="http://schemas.microsoft.com/office/drawing/2014/main" id="{55B5F0AB-371B-DDE4-9887-4C8BFA5FB776}"/>
              </a:ext>
            </a:extLst>
          </p:cNvPr>
          <p:cNvCxnSpPr>
            <a:cxnSpLocks/>
          </p:cNvCxnSpPr>
          <p:nvPr/>
        </p:nvCxnSpPr>
        <p:spPr>
          <a:xfrm>
            <a:off x="1773296" y="2570257"/>
            <a:ext cx="393200" cy="0"/>
          </a:xfrm>
          <a:prstGeom prst="straightConnector1">
            <a:avLst/>
          </a:prstGeom>
          <a:noFill/>
          <a:ln w="9525" cap="flat" cmpd="sng">
            <a:solidFill>
              <a:srgbClr val="707070"/>
            </a:solidFill>
            <a:prstDash val="solid"/>
            <a:round/>
            <a:headEnd type="none" w="med" len="med"/>
            <a:tailEnd type="none" w="med" len="med"/>
          </a:ln>
        </p:spPr>
      </p:cxnSp>
      <p:cxnSp>
        <p:nvCxnSpPr>
          <p:cNvPr id="35" name="Google Shape;648;p34">
            <a:extLst>
              <a:ext uri="{FF2B5EF4-FFF2-40B4-BE49-F238E27FC236}">
                <a16:creationId xmlns:a16="http://schemas.microsoft.com/office/drawing/2014/main" id="{368488AD-6FFA-2D2E-C0EF-7B0FE65E0680}"/>
              </a:ext>
            </a:extLst>
          </p:cNvPr>
          <p:cNvCxnSpPr>
            <a:cxnSpLocks/>
          </p:cNvCxnSpPr>
          <p:nvPr/>
        </p:nvCxnSpPr>
        <p:spPr>
          <a:xfrm>
            <a:off x="1773296" y="3097307"/>
            <a:ext cx="393200" cy="0"/>
          </a:xfrm>
          <a:prstGeom prst="straightConnector1">
            <a:avLst/>
          </a:prstGeom>
          <a:noFill/>
          <a:ln w="9525" cap="flat" cmpd="sng">
            <a:solidFill>
              <a:srgbClr val="707070"/>
            </a:solidFill>
            <a:prstDash val="solid"/>
            <a:round/>
            <a:headEnd type="none" w="med" len="med"/>
            <a:tailEnd type="none" w="med" len="med"/>
          </a:ln>
        </p:spPr>
      </p:cxnSp>
      <p:cxnSp>
        <p:nvCxnSpPr>
          <p:cNvPr id="36" name="Google Shape;648;p34">
            <a:extLst>
              <a:ext uri="{FF2B5EF4-FFF2-40B4-BE49-F238E27FC236}">
                <a16:creationId xmlns:a16="http://schemas.microsoft.com/office/drawing/2014/main" id="{90267AE2-C898-5340-772D-E704809394E7}"/>
              </a:ext>
            </a:extLst>
          </p:cNvPr>
          <p:cNvCxnSpPr>
            <a:cxnSpLocks/>
          </p:cNvCxnSpPr>
          <p:nvPr/>
        </p:nvCxnSpPr>
        <p:spPr>
          <a:xfrm>
            <a:off x="1773296" y="4224432"/>
            <a:ext cx="393200" cy="0"/>
          </a:xfrm>
          <a:prstGeom prst="straightConnector1">
            <a:avLst/>
          </a:prstGeom>
          <a:noFill/>
          <a:ln w="9525" cap="flat" cmpd="sng">
            <a:solidFill>
              <a:srgbClr val="707070"/>
            </a:solidFill>
            <a:prstDash val="solid"/>
            <a:round/>
            <a:headEnd type="none" w="med" len="med"/>
            <a:tailEnd type="none" w="med" len="med"/>
          </a:ln>
        </p:spPr>
      </p:cxnSp>
      <p:cxnSp>
        <p:nvCxnSpPr>
          <p:cNvPr id="37" name="Google Shape;648;p34">
            <a:extLst>
              <a:ext uri="{FF2B5EF4-FFF2-40B4-BE49-F238E27FC236}">
                <a16:creationId xmlns:a16="http://schemas.microsoft.com/office/drawing/2014/main" id="{4AB52459-BD1D-C4EE-8D54-B25654CBD3CC}"/>
              </a:ext>
            </a:extLst>
          </p:cNvPr>
          <p:cNvCxnSpPr>
            <a:cxnSpLocks/>
          </p:cNvCxnSpPr>
          <p:nvPr/>
        </p:nvCxnSpPr>
        <p:spPr>
          <a:xfrm>
            <a:off x="1773296" y="4751482"/>
            <a:ext cx="393200" cy="0"/>
          </a:xfrm>
          <a:prstGeom prst="straightConnector1">
            <a:avLst/>
          </a:prstGeom>
          <a:noFill/>
          <a:ln w="9525" cap="flat" cmpd="sng">
            <a:solidFill>
              <a:srgbClr val="707070"/>
            </a:solidFill>
            <a:prstDash val="solid"/>
            <a:round/>
            <a:headEnd type="none" w="med" len="med"/>
            <a:tailEnd type="non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B7FDC-5486-B20D-478F-A9F03CB3218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186FF21-58E5-8182-90D1-2ABCC66A3668}"/>
              </a:ext>
            </a:extLst>
          </p:cNvPr>
          <p:cNvSpPr txBox="1">
            <a:spLocks noGrp="1"/>
          </p:cNvSpPr>
          <p:nvPr>
            <p:ph type="title"/>
          </p:nvPr>
        </p:nvSpPr>
        <p:spPr>
          <a:xfrm>
            <a:off x="1947751" y="173736"/>
            <a:ext cx="4576233" cy="382156"/>
          </a:xfrm>
          <a:prstGeom prst="rect">
            <a:avLst/>
          </a:prstGeom>
        </p:spPr>
        <p:txBody>
          <a:bodyPr vert="horz" wrap="square" lIns="0" tIns="12700" rIns="0" bIns="0" rtlCol="0">
            <a:spAutoFit/>
          </a:bodyPr>
          <a:lstStyle/>
          <a:p>
            <a:pPr marL="12700">
              <a:spcBef>
                <a:spcPts val="100"/>
              </a:spcBef>
            </a:pPr>
            <a:r>
              <a:rPr lang="en-GB" sz="2400" dirty="0"/>
              <a:t>TRAINING AND TESTING</a:t>
            </a:r>
            <a:endParaRPr spc="-25" dirty="0"/>
          </a:p>
        </p:txBody>
      </p:sp>
      <p:sp>
        <p:nvSpPr>
          <p:cNvPr id="7" name="Footer Placeholder 6">
            <a:extLst>
              <a:ext uri="{FF2B5EF4-FFF2-40B4-BE49-F238E27FC236}">
                <a16:creationId xmlns:a16="http://schemas.microsoft.com/office/drawing/2014/main" id="{B4A6B36E-2C6F-29C8-8ED6-B56E6D583181}"/>
              </a:ext>
            </a:extLst>
          </p:cNvPr>
          <p:cNvSpPr>
            <a:spLocks noGrp="1"/>
          </p:cNvSpPr>
          <p:nvPr>
            <p:ph type="ftr" sz="quarter" idx="5"/>
          </p:nvPr>
        </p:nvSpPr>
        <p:spPr/>
        <p:txBody>
          <a:bodyPr/>
          <a:lstStyle/>
          <a:p>
            <a:pPr marL="12700">
              <a:spcBef>
                <a:spcPts val="5"/>
              </a:spcBef>
            </a:pPr>
            <a:r>
              <a:rPr lang="en-GB" dirty="0"/>
              <a:t>University of Applied Sciences Hamm-Lippstadt</a:t>
            </a:r>
            <a:endParaRPr lang="en-GB" spc="-10" dirty="0"/>
          </a:p>
        </p:txBody>
      </p:sp>
      <p:sp>
        <p:nvSpPr>
          <p:cNvPr id="10" name="Slide Number Placeholder 9">
            <a:extLst>
              <a:ext uri="{FF2B5EF4-FFF2-40B4-BE49-F238E27FC236}">
                <a16:creationId xmlns:a16="http://schemas.microsoft.com/office/drawing/2014/main" id="{DD8D57F7-6D25-2DB1-ACAC-49F46D54E597}"/>
              </a:ext>
            </a:extLst>
          </p:cNvPr>
          <p:cNvSpPr>
            <a:spLocks noGrp="1"/>
          </p:cNvSpPr>
          <p:nvPr>
            <p:ph type="sldNum" sz="quarter" idx="7"/>
          </p:nvPr>
        </p:nvSpPr>
        <p:spPr/>
        <p:txBody>
          <a:bodyPr/>
          <a:lstStyle/>
          <a:p>
            <a:pPr marL="12700">
              <a:spcBef>
                <a:spcPts val="30"/>
              </a:spcBef>
            </a:pPr>
            <a:r>
              <a:rPr lang="en-DE" dirty="0"/>
              <a:t>0</a:t>
            </a:r>
            <a:r>
              <a:rPr lang="en-GB" dirty="0"/>
              <a:t>6</a:t>
            </a:r>
            <a:r>
              <a:rPr lang="en-DE" dirty="0"/>
              <a:t>.</a:t>
            </a:r>
            <a:r>
              <a:rPr lang="en-GB" dirty="0"/>
              <a:t>02</a:t>
            </a:r>
            <a:r>
              <a:rPr lang="en-DE" dirty="0"/>
              <a:t>.2</a:t>
            </a:r>
            <a:r>
              <a:rPr lang="en-GB" dirty="0"/>
              <a:t>4</a:t>
            </a:r>
            <a:r>
              <a:rPr lang="en-DE" spc="135" dirty="0"/>
              <a:t>  </a:t>
            </a:r>
            <a:r>
              <a:rPr lang="en-DE" dirty="0"/>
              <a:t>&lt;</a:t>
            </a:r>
            <a:r>
              <a:rPr lang="en-DE" spc="-5" dirty="0"/>
              <a:t> </a:t>
            </a:r>
            <a:fld id="{81D60167-4931-47E6-BA6A-407CBD079E47}" type="slidenum">
              <a:rPr smtClean="0"/>
              <a:pPr marL="12700">
                <a:spcBef>
                  <a:spcPts val="30"/>
                </a:spcBef>
              </a:pPr>
              <a:t>12</a:t>
            </a:fld>
            <a:r>
              <a:rPr spc="-15" dirty="0"/>
              <a:t> </a:t>
            </a:r>
            <a:r>
              <a:rPr spc="-50" dirty="0"/>
              <a:t>&gt;</a:t>
            </a:r>
          </a:p>
        </p:txBody>
      </p:sp>
      <p:pic>
        <p:nvPicPr>
          <p:cNvPr id="4" name="Picture 3" descr="A screenshot of a computer screen&#10;&#10;Description automatically generated">
            <a:extLst>
              <a:ext uri="{FF2B5EF4-FFF2-40B4-BE49-F238E27FC236}">
                <a16:creationId xmlns:a16="http://schemas.microsoft.com/office/drawing/2014/main" id="{74DB366E-A3B5-8F35-42CB-328DE35279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36" y="1371600"/>
            <a:ext cx="6019473" cy="3855213"/>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8174BA28-76E4-AD54-656F-54E0AF9516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0593" y="1371601"/>
            <a:ext cx="6021674" cy="3855212"/>
          </a:xfrm>
          <a:prstGeom prst="rect">
            <a:avLst/>
          </a:prstGeom>
        </p:spPr>
      </p:pic>
      <p:sp>
        <p:nvSpPr>
          <p:cNvPr id="6" name="TextBox 5">
            <a:extLst>
              <a:ext uri="{FF2B5EF4-FFF2-40B4-BE49-F238E27FC236}">
                <a16:creationId xmlns:a16="http://schemas.microsoft.com/office/drawing/2014/main" id="{A6F0F41A-4D1D-EF3A-217D-625D4685A3AB}"/>
              </a:ext>
            </a:extLst>
          </p:cNvPr>
          <p:cNvSpPr txBox="1"/>
          <p:nvPr/>
        </p:nvSpPr>
        <p:spPr>
          <a:xfrm>
            <a:off x="2471764" y="5427879"/>
            <a:ext cx="1228997" cy="490214"/>
          </a:xfrm>
          <a:prstGeom prst="rect">
            <a:avLst/>
          </a:prstGeom>
          <a:noFill/>
        </p:spPr>
        <p:txBody>
          <a:bodyPr wrap="square">
            <a:spAutoFit/>
          </a:bodyPr>
          <a:lstStyle/>
          <a:p>
            <a:pPr defTabSz="1219170">
              <a:lnSpc>
                <a:spcPct val="150000"/>
              </a:lnSpc>
              <a:buClr>
                <a:srgbClr val="000000"/>
              </a:buClr>
            </a:pPr>
            <a:r>
              <a:rPr lang="en-GB" sz="1800" kern="0" dirty="0">
                <a:solidFill>
                  <a:schemeClr val="tx1"/>
                </a:solidFill>
                <a:latin typeface="Fira Code"/>
                <a:ea typeface="Fira Code"/>
                <a:cs typeface="Fira Code"/>
                <a:sym typeface="Fira Code"/>
              </a:rPr>
              <a:t>Test 1</a:t>
            </a:r>
          </a:p>
        </p:txBody>
      </p:sp>
      <p:sp>
        <p:nvSpPr>
          <p:cNvPr id="11" name="TextBox 10">
            <a:extLst>
              <a:ext uri="{FF2B5EF4-FFF2-40B4-BE49-F238E27FC236}">
                <a16:creationId xmlns:a16="http://schemas.microsoft.com/office/drawing/2014/main" id="{68B5DCB3-9361-08AE-AF01-AB4BFE68C6B6}"/>
              </a:ext>
            </a:extLst>
          </p:cNvPr>
          <p:cNvSpPr txBox="1"/>
          <p:nvPr/>
        </p:nvSpPr>
        <p:spPr>
          <a:xfrm>
            <a:off x="8566664" y="5427879"/>
            <a:ext cx="1228998" cy="490214"/>
          </a:xfrm>
          <a:prstGeom prst="rect">
            <a:avLst/>
          </a:prstGeom>
          <a:noFill/>
        </p:spPr>
        <p:txBody>
          <a:bodyPr wrap="square">
            <a:spAutoFit/>
          </a:bodyPr>
          <a:lstStyle/>
          <a:p>
            <a:pPr defTabSz="1219170">
              <a:lnSpc>
                <a:spcPct val="150000"/>
              </a:lnSpc>
              <a:buClr>
                <a:srgbClr val="000000"/>
              </a:buClr>
            </a:pPr>
            <a:r>
              <a:rPr lang="en-GB" sz="1800" kern="0" dirty="0">
                <a:solidFill>
                  <a:schemeClr val="tx1"/>
                </a:solidFill>
                <a:latin typeface="Fira Code"/>
                <a:ea typeface="Fira Code"/>
                <a:cs typeface="Fira Code"/>
                <a:sym typeface="Fira Code"/>
              </a:rPr>
              <a:t>Test 2</a:t>
            </a:r>
          </a:p>
        </p:txBody>
      </p:sp>
    </p:spTree>
    <p:extLst>
      <p:ext uri="{BB962C8B-B14F-4D97-AF65-F5344CB8AC3E}">
        <p14:creationId xmlns:p14="http://schemas.microsoft.com/office/powerpoint/2010/main" val="2479310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B9610-C08F-9F8D-7CB1-B0D0A223FAD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44361D5-A383-9F3A-DB61-F9BF1F88AF68}"/>
              </a:ext>
            </a:extLst>
          </p:cNvPr>
          <p:cNvSpPr txBox="1">
            <a:spLocks noGrp="1"/>
          </p:cNvSpPr>
          <p:nvPr>
            <p:ph type="title"/>
          </p:nvPr>
        </p:nvSpPr>
        <p:spPr>
          <a:xfrm>
            <a:off x="1947751" y="173736"/>
            <a:ext cx="4576233" cy="505267"/>
          </a:xfrm>
          <a:prstGeom prst="rect">
            <a:avLst/>
          </a:prstGeom>
        </p:spPr>
        <p:txBody>
          <a:bodyPr vert="horz" wrap="square" lIns="0" tIns="12700" rIns="0" bIns="0" rtlCol="0">
            <a:spAutoFit/>
          </a:bodyPr>
          <a:lstStyle/>
          <a:p>
            <a:pPr marL="12700">
              <a:spcBef>
                <a:spcPts val="100"/>
              </a:spcBef>
            </a:pPr>
            <a:r>
              <a:rPr lang="en-GB" sz="3200" dirty="0"/>
              <a:t>REFERENCES</a:t>
            </a:r>
            <a:endParaRPr spc="-25" dirty="0"/>
          </a:p>
        </p:txBody>
      </p:sp>
      <p:sp>
        <p:nvSpPr>
          <p:cNvPr id="7" name="Footer Placeholder 6">
            <a:extLst>
              <a:ext uri="{FF2B5EF4-FFF2-40B4-BE49-F238E27FC236}">
                <a16:creationId xmlns:a16="http://schemas.microsoft.com/office/drawing/2014/main" id="{C11E3A38-A8F2-7477-F888-C84691C81DC5}"/>
              </a:ext>
            </a:extLst>
          </p:cNvPr>
          <p:cNvSpPr>
            <a:spLocks noGrp="1"/>
          </p:cNvSpPr>
          <p:nvPr>
            <p:ph type="ftr" sz="quarter" idx="5"/>
          </p:nvPr>
        </p:nvSpPr>
        <p:spPr/>
        <p:txBody>
          <a:bodyPr/>
          <a:lstStyle/>
          <a:p>
            <a:pPr marL="12700">
              <a:spcBef>
                <a:spcPts val="5"/>
              </a:spcBef>
            </a:pPr>
            <a:r>
              <a:rPr lang="en-GB"/>
              <a:t>University of Applied Sciences Hamm-Lippstadt</a:t>
            </a:r>
            <a:endParaRPr lang="en-GB" spc="-10" dirty="0"/>
          </a:p>
        </p:txBody>
      </p:sp>
      <p:sp>
        <p:nvSpPr>
          <p:cNvPr id="10" name="Slide Number Placeholder 9">
            <a:extLst>
              <a:ext uri="{FF2B5EF4-FFF2-40B4-BE49-F238E27FC236}">
                <a16:creationId xmlns:a16="http://schemas.microsoft.com/office/drawing/2014/main" id="{FF6B408D-533A-324B-5A2B-BF72D8CD4BDD}"/>
              </a:ext>
            </a:extLst>
          </p:cNvPr>
          <p:cNvSpPr>
            <a:spLocks noGrp="1"/>
          </p:cNvSpPr>
          <p:nvPr>
            <p:ph type="sldNum" sz="quarter" idx="7"/>
          </p:nvPr>
        </p:nvSpPr>
        <p:spPr/>
        <p:txBody>
          <a:bodyPr/>
          <a:lstStyle/>
          <a:p>
            <a:pPr marL="12700">
              <a:spcBef>
                <a:spcPts val="30"/>
              </a:spcBef>
            </a:pPr>
            <a:r>
              <a:rPr lang="en-DE" dirty="0"/>
              <a:t>0</a:t>
            </a:r>
            <a:r>
              <a:rPr lang="en-GB" dirty="0"/>
              <a:t>6</a:t>
            </a:r>
            <a:r>
              <a:rPr lang="en-DE" dirty="0"/>
              <a:t>.</a:t>
            </a:r>
            <a:r>
              <a:rPr lang="en-GB" dirty="0"/>
              <a:t>02</a:t>
            </a:r>
            <a:r>
              <a:rPr lang="en-DE" dirty="0"/>
              <a:t>.2</a:t>
            </a:r>
            <a:r>
              <a:rPr lang="en-GB" dirty="0"/>
              <a:t>4</a:t>
            </a:r>
            <a:r>
              <a:rPr lang="en-DE" spc="135" dirty="0"/>
              <a:t>  </a:t>
            </a:r>
            <a:r>
              <a:rPr lang="en-DE" dirty="0"/>
              <a:t>&lt;</a:t>
            </a:r>
            <a:r>
              <a:rPr lang="en-DE" spc="-5" dirty="0"/>
              <a:t> </a:t>
            </a:r>
            <a:fld id="{81D60167-4931-47E6-BA6A-407CBD079E47}" type="slidenum">
              <a:rPr smtClean="0"/>
              <a:pPr marL="12700">
                <a:spcBef>
                  <a:spcPts val="30"/>
                </a:spcBef>
              </a:pPr>
              <a:t>13</a:t>
            </a:fld>
            <a:r>
              <a:rPr spc="-15" dirty="0"/>
              <a:t> </a:t>
            </a:r>
            <a:r>
              <a:rPr spc="-50" dirty="0"/>
              <a:t>&gt;</a:t>
            </a:r>
          </a:p>
        </p:txBody>
      </p:sp>
      <p:sp>
        <p:nvSpPr>
          <p:cNvPr id="6" name="Google Shape;637;p34">
            <a:extLst>
              <a:ext uri="{FF2B5EF4-FFF2-40B4-BE49-F238E27FC236}">
                <a16:creationId xmlns:a16="http://schemas.microsoft.com/office/drawing/2014/main" id="{DE1138F9-183C-9481-4130-107FA77F0EE1}"/>
              </a:ext>
            </a:extLst>
          </p:cNvPr>
          <p:cNvSpPr txBox="1"/>
          <p:nvPr/>
        </p:nvSpPr>
        <p:spPr>
          <a:xfrm>
            <a:off x="242472" y="827664"/>
            <a:ext cx="11304189" cy="5856600"/>
          </a:xfrm>
          <a:prstGeom prst="rect">
            <a:avLst/>
          </a:prstGeom>
          <a:noFill/>
          <a:ln>
            <a:noFill/>
          </a:ln>
        </p:spPr>
        <p:txBody>
          <a:bodyPr spcFirstLastPara="1" wrap="square" lIns="121900" tIns="121900" rIns="121900" bIns="121900" anchor="ctr" anchorCtr="0">
            <a:noAutofit/>
          </a:bodyPr>
          <a:lstStyle/>
          <a:p>
            <a:pPr marL="342900" indent="-342900" defTabSz="1219170">
              <a:lnSpc>
                <a:spcPct val="150000"/>
              </a:lnSpc>
              <a:buClr>
                <a:srgbClr val="000000"/>
              </a:buClr>
              <a:buAutoNum type="arabicPeriod"/>
            </a:pPr>
            <a:r>
              <a:rPr lang="en-GB" sz="1600" kern="0" dirty="0">
                <a:solidFill>
                  <a:schemeClr val="tx1"/>
                </a:solidFill>
                <a:latin typeface="Fira Code"/>
                <a:ea typeface="Fira Code"/>
                <a:cs typeface="Fira Code"/>
                <a:sym typeface="Fira Code"/>
                <a:hlinkClick r:id="rId2"/>
              </a:rPr>
              <a:t>https://medium.com/@vishnuvijayanpv/deep-reinforcement-learning-value-functions-dqn-actor-critic-method-backpropagation-through-83a277d8c38d</a:t>
            </a:r>
            <a:endParaRPr lang="en-GB" sz="1600" kern="0" dirty="0">
              <a:solidFill>
                <a:schemeClr val="tx1"/>
              </a:solidFill>
              <a:latin typeface="Fira Code"/>
              <a:ea typeface="Fira Code"/>
              <a:cs typeface="Fira Code"/>
              <a:sym typeface="Fira Code"/>
            </a:endParaRPr>
          </a:p>
          <a:p>
            <a:pPr defTabSz="1219170">
              <a:lnSpc>
                <a:spcPct val="150000"/>
              </a:lnSpc>
              <a:buClr>
                <a:srgbClr val="000000"/>
              </a:buClr>
            </a:pPr>
            <a:endParaRPr lang="en-GB" sz="1600" kern="0" dirty="0">
              <a:solidFill>
                <a:schemeClr val="tx1"/>
              </a:solidFill>
              <a:latin typeface="Fira Code"/>
              <a:ea typeface="Fira Code"/>
              <a:cs typeface="Fira Code"/>
              <a:sym typeface="Fira Code"/>
            </a:endParaRPr>
          </a:p>
          <a:p>
            <a:pPr defTabSz="1219170">
              <a:lnSpc>
                <a:spcPct val="150000"/>
              </a:lnSpc>
              <a:buClr>
                <a:srgbClr val="000000"/>
              </a:buClr>
            </a:pPr>
            <a:r>
              <a:rPr lang="en-GB" sz="1600" kern="0" dirty="0">
                <a:solidFill>
                  <a:schemeClr val="tx1"/>
                </a:solidFill>
                <a:latin typeface="Fira Code"/>
                <a:ea typeface="Fira Code"/>
                <a:cs typeface="Fira Code"/>
                <a:sym typeface="Fira Code"/>
              </a:rPr>
              <a:t>2. Baeldung on Computer Science, “Q-learning vs. deep q-learning vs.</a:t>
            </a:r>
          </a:p>
          <a:p>
            <a:pPr defTabSz="1219170">
              <a:lnSpc>
                <a:spcPct val="150000"/>
              </a:lnSpc>
              <a:buClr>
                <a:srgbClr val="000000"/>
              </a:buClr>
            </a:pPr>
            <a:r>
              <a:rPr lang="en-GB" sz="1600" dirty="0">
                <a:solidFill>
                  <a:schemeClr val="tx1"/>
                </a:solidFill>
                <a:latin typeface="Fira Code"/>
                <a:ea typeface="Fira Code"/>
                <a:cs typeface="Fira Code"/>
                <a:sym typeface="Fira Code"/>
              </a:rPr>
              <a:t>   </a:t>
            </a:r>
            <a:r>
              <a:rPr lang="en-GB" sz="1600" kern="0" dirty="0">
                <a:solidFill>
                  <a:schemeClr val="tx1"/>
                </a:solidFill>
                <a:latin typeface="Fira Code"/>
                <a:ea typeface="Fira Code"/>
                <a:cs typeface="Fira Code"/>
                <a:sym typeface="Fira Code"/>
              </a:rPr>
              <a:t>deep q-network — </a:t>
            </a:r>
            <a:r>
              <a:rPr lang="en-GB" sz="1600" kern="0" dirty="0" err="1">
                <a:solidFill>
                  <a:schemeClr val="tx1"/>
                </a:solidFill>
                <a:latin typeface="Fira Code"/>
                <a:ea typeface="Fira Code"/>
                <a:cs typeface="Fira Code"/>
                <a:sym typeface="Fira Code"/>
              </a:rPr>
              <a:t>baeldung</a:t>
            </a:r>
            <a:r>
              <a:rPr lang="en-GB" sz="1600" kern="0" dirty="0">
                <a:solidFill>
                  <a:schemeClr val="tx1"/>
                </a:solidFill>
                <a:latin typeface="Fira Code"/>
                <a:ea typeface="Fira Code"/>
                <a:cs typeface="Fira Code"/>
                <a:sym typeface="Fira Code"/>
              </a:rPr>
              <a:t> on computer science,” 2023. [Online]. Available:</a:t>
            </a:r>
            <a:endParaRPr lang="en-GB" sz="1600" dirty="0">
              <a:solidFill>
                <a:schemeClr val="tx1"/>
              </a:solidFill>
              <a:latin typeface="Fira Code"/>
              <a:ea typeface="Fira Code"/>
              <a:cs typeface="Fira Code"/>
              <a:sym typeface="Fira Code"/>
            </a:endParaRPr>
          </a:p>
          <a:p>
            <a:pPr defTabSz="1219170">
              <a:lnSpc>
                <a:spcPct val="150000"/>
              </a:lnSpc>
              <a:buClr>
                <a:srgbClr val="000000"/>
              </a:buClr>
            </a:pPr>
            <a:r>
              <a:rPr lang="en-GB" sz="1600" dirty="0">
                <a:solidFill>
                  <a:schemeClr val="tx1"/>
                </a:solidFill>
                <a:latin typeface="Fira Code"/>
                <a:ea typeface="Fira Code"/>
                <a:cs typeface="Fira Code"/>
                <a:sym typeface="Fira Code"/>
              </a:rPr>
              <a:t>   </a:t>
            </a:r>
            <a:r>
              <a:rPr lang="en-GB" sz="1600" kern="0" dirty="0">
                <a:solidFill>
                  <a:schemeClr val="tx1"/>
                </a:solidFill>
                <a:latin typeface="Fira Code"/>
                <a:ea typeface="Fira Code"/>
                <a:cs typeface="Fira Code"/>
                <a:sym typeface="Fira Code"/>
                <a:hlinkClick r:id="rId3"/>
              </a:rPr>
              <a:t>https://www.baeldung.com/cs/q-learning-vs-deep-q-learningvs-deep-q-network</a:t>
            </a:r>
            <a:endParaRPr lang="en-GB" sz="1600" kern="0" dirty="0">
              <a:solidFill>
                <a:schemeClr val="tx1"/>
              </a:solidFill>
              <a:latin typeface="Fira Code"/>
              <a:ea typeface="Fira Code"/>
              <a:cs typeface="Fira Code"/>
              <a:sym typeface="Fira Code"/>
            </a:endParaRPr>
          </a:p>
          <a:p>
            <a:pPr defTabSz="1219170">
              <a:lnSpc>
                <a:spcPct val="150000"/>
              </a:lnSpc>
              <a:buClr>
                <a:srgbClr val="000000"/>
              </a:buClr>
            </a:pPr>
            <a:endParaRPr lang="en-GB" sz="1600" kern="0" dirty="0">
              <a:solidFill>
                <a:schemeClr val="tx1"/>
              </a:solidFill>
              <a:latin typeface="Fira Code"/>
              <a:ea typeface="Fira Code"/>
              <a:cs typeface="Fira Code"/>
              <a:sym typeface="Fira Code"/>
            </a:endParaRPr>
          </a:p>
          <a:p>
            <a:pPr defTabSz="1219170">
              <a:lnSpc>
                <a:spcPct val="150000"/>
              </a:lnSpc>
              <a:buClr>
                <a:srgbClr val="000000"/>
              </a:buClr>
            </a:pPr>
            <a:r>
              <a:rPr lang="en-GB" sz="1600" kern="0" dirty="0">
                <a:solidFill>
                  <a:schemeClr val="tx1"/>
                </a:solidFill>
                <a:latin typeface="Fira Code"/>
                <a:ea typeface="Fira Code"/>
                <a:cs typeface="Fira Code"/>
                <a:sym typeface="Fira Code"/>
              </a:rPr>
              <a:t>3. freeCodeCamp.org, “Diving deeper into reinforcement learning with q-learning,”</a:t>
            </a:r>
          </a:p>
          <a:p>
            <a:pPr defTabSz="1219170">
              <a:lnSpc>
                <a:spcPct val="150000"/>
              </a:lnSpc>
              <a:buClr>
                <a:srgbClr val="000000"/>
              </a:buClr>
            </a:pPr>
            <a:r>
              <a:rPr lang="en-GB" sz="1600" dirty="0">
                <a:solidFill>
                  <a:schemeClr val="tx1"/>
                </a:solidFill>
                <a:latin typeface="Fira Code"/>
                <a:ea typeface="Fira Code"/>
                <a:cs typeface="Fira Code"/>
                <a:sym typeface="Fira Code"/>
              </a:rPr>
              <a:t>   </a:t>
            </a:r>
            <a:r>
              <a:rPr lang="en-GB" sz="1600" kern="0" dirty="0">
                <a:solidFill>
                  <a:schemeClr val="tx1"/>
                </a:solidFill>
                <a:latin typeface="Fira Code"/>
                <a:ea typeface="Fira Code"/>
                <a:cs typeface="Fira Code"/>
                <a:sym typeface="Fira Code"/>
              </a:rPr>
              <a:t>freeCodeCamp.org, 10/04/2018. [Online]. Available:</a:t>
            </a:r>
          </a:p>
          <a:p>
            <a:pPr defTabSz="1219170">
              <a:lnSpc>
                <a:spcPct val="150000"/>
              </a:lnSpc>
              <a:buClr>
                <a:srgbClr val="000000"/>
              </a:buClr>
            </a:pPr>
            <a:r>
              <a:rPr lang="en-GB" sz="1600" dirty="0">
                <a:solidFill>
                  <a:schemeClr val="tx1"/>
                </a:solidFill>
                <a:latin typeface="Fira Code"/>
                <a:ea typeface="Fira Code"/>
                <a:cs typeface="Fira Code"/>
                <a:sym typeface="Fira Code"/>
              </a:rPr>
              <a:t>   </a:t>
            </a:r>
            <a:r>
              <a:rPr lang="en-GB" sz="1600" kern="0" dirty="0">
                <a:solidFill>
                  <a:schemeClr val="tx1"/>
                </a:solidFill>
                <a:latin typeface="Fira Code"/>
                <a:ea typeface="Fira Code"/>
                <a:cs typeface="Fira Code"/>
                <a:sym typeface="Fira Code"/>
                <a:hlinkClick r:id="rId4"/>
              </a:rPr>
              <a:t>https://www.freecodecamp.org/news/diving-deeperinto-reinforcement-learning-with-q</a:t>
            </a:r>
            <a:r>
              <a:rPr lang="en-GB" sz="1600" dirty="0">
                <a:solidFill>
                  <a:schemeClr val="tx1"/>
                </a:solidFill>
                <a:latin typeface="Fira Code"/>
                <a:ea typeface="Fira Code"/>
                <a:cs typeface="Fira Code"/>
                <a:sym typeface="Fira Code"/>
                <a:hlinkClick r:id="rId4"/>
              </a:rPr>
              <a:t>-</a:t>
            </a:r>
          </a:p>
          <a:p>
            <a:pPr defTabSz="1219170">
              <a:lnSpc>
                <a:spcPct val="150000"/>
              </a:lnSpc>
              <a:buClr>
                <a:srgbClr val="000000"/>
              </a:buClr>
            </a:pPr>
            <a:r>
              <a:rPr lang="en-GB" sz="1600" dirty="0">
                <a:solidFill>
                  <a:schemeClr val="tx1"/>
                </a:solidFill>
                <a:latin typeface="Fira Code"/>
                <a:ea typeface="Fira Code"/>
                <a:cs typeface="Fira Code"/>
                <a:sym typeface="Fira Code"/>
              </a:rPr>
              <a:t>   </a:t>
            </a:r>
            <a:r>
              <a:rPr lang="en-GB" sz="1600" kern="0" dirty="0">
                <a:solidFill>
                  <a:schemeClr val="tx1"/>
                </a:solidFill>
                <a:latin typeface="Fira Code"/>
                <a:ea typeface="Fira Code"/>
                <a:cs typeface="Fira Code"/>
                <a:sym typeface="Fira Code"/>
                <a:hlinkClick r:id="rId4"/>
              </a:rPr>
              <a:t>learning-c18d0db58efe/</a:t>
            </a:r>
            <a:endParaRPr lang="en-GB" sz="1600" kern="0" dirty="0">
              <a:solidFill>
                <a:schemeClr val="tx1"/>
              </a:solidFill>
              <a:latin typeface="Fira Code"/>
              <a:ea typeface="Fira Code"/>
              <a:cs typeface="Fira Code"/>
              <a:sym typeface="Fira Code"/>
            </a:endParaRPr>
          </a:p>
          <a:p>
            <a:pPr defTabSz="1219170">
              <a:lnSpc>
                <a:spcPct val="150000"/>
              </a:lnSpc>
              <a:buClr>
                <a:srgbClr val="000000"/>
              </a:buClr>
            </a:pPr>
            <a:endParaRPr lang="en-GB" sz="1600" kern="0" dirty="0">
              <a:solidFill>
                <a:schemeClr val="tx1"/>
              </a:solidFill>
              <a:latin typeface="Fira Code"/>
              <a:ea typeface="Fira Code"/>
              <a:cs typeface="Fira Code"/>
              <a:sym typeface="Fira Code"/>
            </a:endParaRPr>
          </a:p>
          <a:p>
            <a:pPr defTabSz="1219170">
              <a:lnSpc>
                <a:spcPct val="150000"/>
              </a:lnSpc>
              <a:buClr>
                <a:srgbClr val="000000"/>
              </a:buClr>
            </a:pPr>
            <a:r>
              <a:rPr lang="en-GB" sz="1600" kern="0" dirty="0">
                <a:solidFill>
                  <a:schemeClr val="tx1"/>
                </a:solidFill>
                <a:latin typeface="Fira Code"/>
                <a:ea typeface="Fira Code"/>
                <a:cs typeface="Fira Code"/>
                <a:sym typeface="Fira Code"/>
              </a:rPr>
              <a:t>4. Patrick Loeber, “Python + pytorch + pygame reinforcement</a:t>
            </a:r>
          </a:p>
          <a:p>
            <a:pPr defTabSz="1219170">
              <a:lnSpc>
                <a:spcPct val="150000"/>
              </a:lnSpc>
              <a:buClr>
                <a:srgbClr val="000000"/>
              </a:buClr>
            </a:pPr>
            <a:r>
              <a:rPr lang="en-GB" sz="1600" dirty="0">
                <a:solidFill>
                  <a:schemeClr val="tx1"/>
                </a:solidFill>
                <a:latin typeface="Fira Code"/>
                <a:ea typeface="Fira Code"/>
                <a:cs typeface="Fira Code"/>
                <a:sym typeface="Fira Code"/>
              </a:rPr>
              <a:t>   </a:t>
            </a:r>
            <a:r>
              <a:rPr lang="en-GB" sz="1600" kern="0" dirty="0">
                <a:solidFill>
                  <a:schemeClr val="tx1"/>
                </a:solidFill>
                <a:latin typeface="Fira Code"/>
                <a:ea typeface="Fira Code"/>
                <a:cs typeface="Fira Code"/>
                <a:sym typeface="Fira Code"/>
              </a:rPr>
              <a:t>learning – train an ai to play snake,” 2022. [Online]. Available:</a:t>
            </a:r>
          </a:p>
          <a:p>
            <a:pPr defTabSz="1219170">
              <a:lnSpc>
                <a:spcPct val="150000"/>
              </a:lnSpc>
              <a:buClr>
                <a:srgbClr val="000000"/>
              </a:buClr>
            </a:pPr>
            <a:r>
              <a:rPr lang="en-GB" sz="1600" kern="0" dirty="0">
                <a:solidFill>
                  <a:schemeClr val="tx1"/>
                </a:solidFill>
                <a:latin typeface="Fira Code"/>
                <a:ea typeface="Fira Code"/>
                <a:cs typeface="Fira Code"/>
                <a:sym typeface="Fira Code"/>
              </a:rPr>
              <a:t>   </a:t>
            </a:r>
            <a:r>
              <a:rPr lang="en-GB" sz="1600" u="sng" kern="0" dirty="0">
                <a:solidFill>
                  <a:srgbClr val="00197D"/>
                </a:solidFill>
                <a:latin typeface="Fira Code"/>
                <a:ea typeface="Fira Code"/>
                <a:cs typeface="Fira Code"/>
                <a:sym typeface="Fira Code"/>
              </a:rPr>
              <a:t>https://www.youtube.com/watch?v=L8ypSXwyBds</a:t>
            </a:r>
          </a:p>
        </p:txBody>
      </p:sp>
    </p:spTree>
    <p:extLst>
      <p:ext uri="{BB962C8B-B14F-4D97-AF65-F5344CB8AC3E}">
        <p14:creationId xmlns:p14="http://schemas.microsoft.com/office/powerpoint/2010/main" val="27371763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197D"/>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455</TotalTime>
  <Words>980</Words>
  <Application>Microsoft Office PowerPoint</Application>
  <PresentationFormat>Widescreen</PresentationFormat>
  <Paragraphs>132</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Arial MT</vt:lpstr>
      <vt:lpstr>Fira Code</vt:lpstr>
      <vt:lpstr>Impact</vt:lpstr>
      <vt:lpstr>Office Theme</vt:lpstr>
      <vt:lpstr>PowerPoint Presentation</vt:lpstr>
      <vt:lpstr>Motivation</vt:lpstr>
      <vt:lpstr>Deep Reinforcement Learning</vt:lpstr>
      <vt:lpstr>Q-Learning and DQ-Learning</vt:lpstr>
      <vt:lpstr>IMPLEM. THE SNAKE GAME</vt:lpstr>
      <vt:lpstr>IMPLEM. THE SNAKE GAME</vt:lpstr>
      <vt:lpstr>IMPLEM. THE AGENT</vt:lpstr>
      <vt:lpstr>IMPLEM. THE AGENT</vt:lpstr>
      <vt:lpstr>IMPLEM. THE AGENT</vt:lpstr>
      <vt:lpstr>IMPLIMENTING THE MODEL</vt:lpstr>
      <vt:lpstr>Deep Q-Learning process</vt:lpstr>
      <vt:lpstr>TRAINING AND TESTING</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Abdullah Al Forkan</dc:creator>
  <cp:lastModifiedBy>Abdullah Al Forkan</cp:lastModifiedBy>
  <cp:revision>14</cp:revision>
  <dcterms:created xsi:type="dcterms:W3CDTF">2024-02-05T23:59:14Z</dcterms:created>
  <dcterms:modified xsi:type="dcterms:W3CDTF">2024-02-06T09:19:28Z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2023-10-09T00:00:00Z</vt:filetime>
  </property>
  <property fmtid="{D5CDD505-2E9C-101B-9397-08002B2CF9AE}" pid="3" name="LastSaved">
    <vt:filetime>2024-02-05T00:00:00Z</vt:filetime>
  </property>
  <property fmtid="{D5CDD505-2E9C-101B-9397-08002B2CF9AE}" pid="4" name="Producer">
    <vt:lpwstr>macOS Version 13.6 (Build 22G120) Quartz PDFContext</vt:lpwstr>
  </property>
</Properties>
</file>